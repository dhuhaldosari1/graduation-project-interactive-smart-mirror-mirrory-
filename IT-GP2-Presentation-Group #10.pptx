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Times New Roman Bold Italics" charset="1" panose="02030802070405090303"/>
      <p:regular r:id="rId32"/>
    </p:embeddedFont>
    <p:embeddedFont>
      <p:font typeface="Times New Roman Italics" charset="1" panose="02030502070405090303"/>
      <p:regular r:id="rId33"/>
    </p:embeddedFont>
    <p:embeddedFont>
      <p:font typeface="Canva Sans" charset="1" panose="020B0503030501040103"/>
      <p:regular r:id="rId34"/>
    </p:embeddedFont>
    <p:embeddedFont>
      <p:font typeface="Times New Roman Bold" charset="1" panose="02030802070405020303"/>
      <p:regular r:id="rId35"/>
    </p:embeddedFont>
    <p:embeddedFont>
      <p:font typeface="Times New Roman" charset="1" panose="02030502070405020303"/>
      <p:regular r:id="rId36"/>
    </p:embeddedFont>
    <p:embeddedFont>
      <p:font typeface="Times New Roman Medium" charset="1" panose="02030502070405020303"/>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0.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s://www.geeksforgeeks.org/waterfall-model/" TargetMode="External" Type="http://schemas.openxmlformats.org/officeDocument/2006/relationships/hyperlink"/><Relationship Id="rId5" Target="https://www.who.int/ar/news-room/fact-sheets/detail/disability-and-health" TargetMode="External" Type="http://schemas.openxmlformats.org/officeDocument/2006/relationships/hyperlink"/><Relationship Id="rId6" Target="https://apd.gov.sa/en/statistics" TargetMode="External" Type="http://schemas.openxmlformats.org/officeDocument/2006/relationships/hyperlink"/></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sp>
        <p:nvSpPr>
          <p:cNvPr name="AutoShape 5" id="5"/>
          <p:cNvSpPr/>
          <p:nvPr/>
        </p:nvSpPr>
        <p:spPr>
          <a:xfrm>
            <a:off x="-1402759" y="9239250"/>
            <a:ext cx="16138684" cy="0"/>
          </a:xfrm>
          <a:prstGeom prst="line">
            <a:avLst/>
          </a:prstGeom>
          <a:ln cap="flat" w="38100">
            <a:solidFill>
              <a:srgbClr val="875A7A"/>
            </a:solidFill>
            <a:prstDash val="solid"/>
            <a:headEnd type="none" len="sm" w="sm"/>
            <a:tailEnd type="none" len="sm" w="sm"/>
          </a:ln>
        </p:spPr>
      </p:sp>
      <p:grpSp>
        <p:nvGrpSpPr>
          <p:cNvPr name="Group 6" id="6"/>
          <p:cNvGrpSpPr/>
          <p:nvPr/>
        </p:nvGrpSpPr>
        <p:grpSpPr>
          <a:xfrm rot="0">
            <a:off x="17213342" y="2701178"/>
            <a:ext cx="4758515" cy="47585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75A7A"/>
            </a:solidFill>
          </p:spPr>
        </p:sp>
        <p:sp>
          <p:nvSpPr>
            <p:cNvPr name="TextBox 8" id="8"/>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9" id="9"/>
          <p:cNvGrpSpPr/>
          <p:nvPr/>
        </p:nvGrpSpPr>
        <p:grpSpPr>
          <a:xfrm rot="0">
            <a:off x="15972039" y="656036"/>
            <a:ext cx="1241303" cy="575606"/>
            <a:chOff x="0" y="0"/>
            <a:chExt cx="326928" cy="151600"/>
          </a:xfrm>
        </p:grpSpPr>
        <p:sp>
          <p:nvSpPr>
            <p:cNvPr name="Freeform 10" id="10"/>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1" id="11"/>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2" id="12"/>
          <p:cNvSpPr/>
          <p:nvPr/>
        </p:nvSpPr>
        <p:spPr>
          <a:xfrm flipH="false" flipV="false" rot="0">
            <a:off x="16275918" y="793769"/>
            <a:ext cx="633545" cy="300142"/>
          </a:xfrm>
          <a:custGeom>
            <a:avLst/>
            <a:gdLst/>
            <a:ahLst/>
            <a:cxnLst/>
            <a:rect r="r" b="b" t="t" l="l"/>
            <a:pathLst>
              <a:path h="300142" w="633545">
                <a:moveTo>
                  <a:pt x="0" y="0"/>
                </a:moveTo>
                <a:lnTo>
                  <a:pt x="633545" y="0"/>
                </a:lnTo>
                <a:lnTo>
                  <a:pt x="633545"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17543" y="0"/>
            <a:ext cx="998978" cy="1441136"/>
          </a:xfrm>
          <a:custGeom>
            <a:avLst/>
            <a:gdLst/>
            <a:ahLst/>
            <a:cxnLst/>
            <a:rect r="r" b="b" t="t" l="l"/>
            <a:pathLst>
              <a:path h="1441136" w="998978">
                <a:moveTo>
                  <a:pt x="0" y="0"/>
                </a:moveTo>
                <a:lnTo>
                  <a:pt x="998978" y="0"/>
                </a:lnTo>
                <a:lnTo>
                  <a:pt x="998978" y="1441136"/>
                </a:lnTo>
                <a:lnTo>
                  <a:pt x="0" y="1441136"/>
                </a:lnTo>
                <a:lnTo>
                  <a:pt x="0" y="0"/>
                </a:lnTo>
                <a:close/>
              </a:path>
            </a:pathLst>
          </a:custGeom>
          <a:blipFill>
            <a:blip r:embed="rId4"/>
            <a:stretch>
              <a:fillRect l="-11004" t="-2724" r="-14147" b="-27243"/>
            </a:stretch>
          </a:blipFill>
        </p:spPr>
      </p:sp>
      <p:sp>
        <p:nvSpPr>
          <p:cNvPr name="TextBox 14" id="14"/>
          <p:cNvSpPr txBox="true"/>
          <p:nvPr/>
        </p:nvSpPr>
        <p:spPr>
          <a:xfrm rot="0">
            <a:off x="-902612" y="1231586"/>
            <a:ext cx="20093223" cy="11019095"/>
          </a:xfrm>
          <a:prstGeom prst="rect">
            <a:avLst/>
          </a:prstGeom>
        </p:spPr>
        <p:txBody>
          <a:bodyPr anchor="t" rtlCol="false" tIns="0" lIns="0" bIns="0" rIns="0">
            <a:spAutoFit/>
          </a:bodyPr>
          <a:lstStyle/>
          <a:p>
            <a:pPr algn="ctr">
              <a:lnSpc>
                <a:spcPts val="7208"/>
              </a:lnSpc>
            </a:pPr>
            <a:r>
              <a:rPr lang="en-US" b="true" sz="5149" i="true">
                <a:solidFill>
                  <a:srgbClr val="000000"/>
                </a:solidFill>
                <a:latin typeface="Times New Roman Bold Italics"/>
                <a:ea typeface="Times New Roman Bold Italics"/>
                <a:cs typeface="Times New Roman Bold Italics"/>
                <a:sym typeface="Times New Roman Bold Italics"/>
              </a:rPr>
              <a:t>SMART MIRROR WITH MODERN TECHNOLOGIES</a:t>
            </a:r>
          </a:p>
          <a:p>
            <a:pPr algn="ctr">
              <a:lnSpc>
                <a:spcPts val="7208"/>
              </a:lnSpc>
            </a:pPr>
            <a:r>
              <a:rPr lang="en-US" b="true" sz="5149" i="true">
                <a:solidFill>
                  <a:srgbClr val="000000"/>
                </a:solidFill>
                <a:latin typeface="Times New Roman Bold Italics"/>
                <a:ea typeface="Times New Roman Bold Italics"/>
                <a:cs typeface="Times New Roman Bold Italics"/>
                <a:sym typeface="Times New Roman Bold Italics"/>
              </a:rPr>
              <a:t>(MIRRORY)</a:t>
            </a:r>
          </a:p>
          <a:p>
            <a:pPr algn="ctr">
              <a:lnSpc>
                <a:spcPts val="4128"/>
              </a:lnSpc>
            </a:pPr>
          </a:p>
          <a:p>
            <a:pPr algn="ctr">
              <a:lnSpc>
                <a:spcPts val="4128"/>
              </a:lnSpc>
            </a:pPr>
            <a:r>
              <a:rPr lang="en-US" b="true" sz="2949" i="true">
                <a:solidFill>
                  <a:srgbClr val="000000"/>
                </a:solidFill>
                <a:latin typeface="Times New Roman Bold Italics"/>
                <a:ea typeface="Times New Roman Bold Italics"/>
                <a:cs typeface="Times New Roman Bold Italics"/>
                <a:sym typeface="Times New Roman Bold Italics"/>
              </a:rPr>
              <a:t>STUDENTS NAME: </a:t>
            </a:r>
          </a:p>
          <a:p>
            <a:pPr algn="ctr">
              <a:lnSpc>
                <a:spcPts val="4128"/>
              </a:lnSpc>
            </a:pPr>
          </a:p>
          <a:p>
            <a:pPr algn="ctr">
              <a:lnSpc>
                <a:spcPts val="4128"/>
              </a:lnSpc>
            </a:pPr>
            <a:r>
              <a:rPr lang="en-US" sz="2949" i="true">
                <a:solidFill>
                  <a:srgbClr val="000000"/>
                </a:solidFill>
                <a:latin typeface="Times New Roman Italics"/>
                <a:ea typeface="Times New Roman Italics"/>
                <a:cs typeface="Times New Roman Italics"/>
                <a:sym typeface="Times New Roman Italics"/>
              </a:rPr>
              <a:t> Aseel Almuhaidib   </a:t>
            </a:r>
          </a:p>
          <a:p>
            <a:pPr algn="ctr">
              <a:lnSpc>
                <a:spcPts val="4128"/>
              </a:lnSpc>
            </a:pPr>
            <a:r>
              <a:rPr lang="en-US" sz="2949" i="true">
                <a:solidFill>
                  <a:srgbClr val="000000"/>
                </a:solidFill>
                <a:latin typeface="Times New Roman Italics"/>
                <a:ea typeface="Times New Roman Italics"/>
                <a:cs typeface="Times New Roman Italics"/>
                <a:sym typeface="Times New Roman Italics"/>
              </a:rPr>
              <a:t>Dhuha Aldosari    </a:t>
            </a:r>
          </a:p>
          <a:p>
            <a:pPr algn="ctr">
              <a:lnSpc>
                <a:spcPts val="4128"/>
              </a:lnSpc>
            </a:pPr>
          </a:p>
          <a:p>
            <a:pPr algn="ctr">
              <a:lnSpc>
                <a:spcPts val="4128"/>
              </a:lnSpc>
            </a:pPr>
            <a:r>
              <a:rPr lang="en-US" b="true" sz="2949" i="true">
                <a:solidFill>
                  <a:srgbClr val="000000"/>
                </a:solidFill>
                <a:latin typeface="Times New Roman Bold Italics"/>
                <a:ea typeface="Times New Roman Bold Italics"/>
                <a:cs typeface="Times New Roman Bold Italics"/>
                <a:sym typeface="Times New Roman Bold Italics"/>
              </a:rPr>
              <a:t>Supervisor:</a:t>
            </a:r>
          </a:p>
          <a:p>
            <a:pPr algn="ctr">
              <a:lnSpc>
                <a:spcPts val="4128"/>
              </a:lnSpc>
            </a:pPr>
            <a:r>
              <a:rPr lang="en-US" sz="2949" i="true">
                <a:solidFill>
                  <a:srgbClr val="000000"/>
                </a:solidFill>
                <a:latin typeface="Times New Roman Italics"/>
                <a:ea typeface="Times New Roman Italics"/>
                <a:cs typeface="Times New Roman Italics"/>
                <a:sym typeface="Times New Roman Italics"/>
              </a:rPr>
              <a:t> Sara AlEid</a:t>
            </a:r>
          </a:p>
          <a:p>
            <a:pPr algn="ctr">
              <a:lnSpc>
                <a:spcPts val="4128"/>
              </a:lnSpc>
            </a:pPr>
          </a:p>
          <a:p>
            <a:pPr algn="ctr">
              <a:lnSpc>
                <a:spcPts val="4128"/>
              </a:lnSpc>
            </a:pPr>
            <a:r>
              <a:rPr lang="en-US" b="true" sz="2949" i="true">
                <a:solidFill>
                  <a:srgbClr val="000000"/>
                </a:solidFill>
                <a:latin typeface="Times New Roman Bold Italics"/>
                <a:ea typeface="Times New Roman Bold Italics"/>
                <a:cs typeface="Times New Roman Bold Italics"/>
                <a:sym typeface="Times New Roman Bold Italics"/>
              </a:rPr>
              <a:t>Submission date: </a:t>
            </a:r>
          </a:p>
          <a:p>
            <a:pPr algn="ctr">
              <a:lnSpc>
                <a:spcPts val="4128"/>
              </a:lnSpc>
            </a:pPr>
            <a:r>
              <a:rPr lang="en-US" sz="2949" i="true">
                <a:solidFill>
                  <a:srgbClr val="000000"/>
                </a:solidFill>
                <a:latin typeface="Times New Roman Italics"/>
                <a:ea typeface="Times New Roman Italics"/>
                <a:cs typeface="Times New Roman Italics"/>
                <a:sym typeface="Times New Roman Italics"/>
              </a:rPr>
              <a:t>MAY </a:t>
            </a:r>
            <a:r>
              <a:rPr lang="en-US" sz="2949" i="true">
                <a:solidFill>
                  <a:srgbClr val="000000"/>
                </a:solidFill>
                <a:latin typeface="Times New Roman Italics"/>
                <a:ea typeface="Times New Roman Italics"/>
                <a:cs typeface="Times New Roman Italics"/>
                <a:sym typeface="Times New Roman Italics"/>
              </a:rPr>
              <a:t>2025</a:t>
            </a:r>
          </a:p>
          <a:p>
            <a:pPr algn="ctr">
              <a:lnSpc>
                <a:spcPts val="4128"/>
              </a:lnSpc>
            </a:pPr>
          </a:p>
          <a:p>
            <a:pPr algn="l">
              <a:lnSpc>
                <a:spcPts val="8920"/>
              </a:lnSpc>
            </a:pPr>
          </a:p>
          <a:p>
            <a:pPr algn="l">
              <a:lnSpc>
                <a:spcPts val="13937"/>
              </a:lnSpc>
            </a:pPr>
          </a:p>
        </p:txBody>
      </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
        <p:nvSpPr>
          <p:cNvPr name="Freeform 16" id="16"/>
          <p:cNvSpPr/>
          <p:nvPr/>
        </p:nvSpPr>
        <p:spPr>
          <a:xfrm flipH="false" flipV="false" rot="0">
            <a:off x="617032" y="6961"/>
            <a:ext cx="2042793" cy="1427214"/>
          </a:xfrm>
          <a:custGeom>
            <a:avLst/>
            <a:gdLst/>
            <a:ahLst/>
            <a:cxnLst/>
            <a:rect r="r" b="b" t="t" l="l"/>
            <a:pathLst>
              <a:path h="1427214" w="2042793">
                <a:moveTo>
                  <a:pt x="0" y="0"/>
                </a:moveTo>
                <a:lnTo>
                  <a:pt x="2042792" y="0"/>
                </a:lnTo>
                <a:lnTo>
                  <a:pt x="2042792" y="1427214"/>
                </a:lnTo>
                <a:lnTo>
                  <a:pt x="0" y="1427214"/>
                </a:lnTo>
                <a:lnTo>
                  <a:pt x="0" y="0"/>
                </a:lnTo>
                <a:close/>
              </a:path>
            </a:pathLst>
          </a:custGeom>
          <a:blipFill>
            <a:blip r:embed="rId5"/>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17213342" y="2701178"/>
            <a:ext cx="4758515" cy="47585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8" id="8"/>
          <p:cNvGrpSpPr/>
          <p:nvPr/>
        </p:nvGrpSpPr>
        <p:grpSpPr>
          <a:xfrm rot="0">
            <a:off x="15972039" y="656036"/>
            <a:ext cx="1241303" cy="575606"/>
            <a:chOff x="0" y="0"/>
            <a:chExt cx="326928" cy="151600"/>
          </a:xfrm>
        </p:grpSpPr>
        <p:sp>
          <p:nvSpPr>
            <p:cNvPr name="Freeform 9" id="9"/>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0" id="10"/>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1" id="11"/>
          <p:cNvSpPr/>
          <p:nvPr/>
        </p:nvSpPr>
        <p:spPr>
          <a:xfrm flipH="false" flipV="false" rot="0">
            <a:off x="16275918" y="793769"/>
            <a:ext cx="633545" cy="300142"/>
          </a:xfrm>
          <a:custGeom>
            <a:avLst/>
            <a:gdLst/>
            <a:ahLst/>
            <a:cxnLst/>
            <a:rect r="r" b="b" t="t" l="l"/>
            <a:pathLst>
              <a:path h="300142" w="633545">
                <a:moveTo>
                  <a:pt x="0" y="0"/>
                </a:moveTo>
                <a:lnTo>
                  <a:pt x="633545" y="0"/>
                </a:lnTo>
                <a:lnTo>
                  <a:pt x="633545"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0" y="-248602"/>
            <a:ext cx="13789651" cy="11017769"/>
          </a:xfrm>
          <a:prstGeom prst="rect">
            <a:avLst/>
          </a:prstGeom>
        </p:spPr>
        <p:txBody>
          <a:bodyPr anchor="t" rtlCol="false" tIns="0" lIns="0" bIns="0" rIns="0">
            <a:spAutoFit/>
          </a:bodyPr>
          <a:lstStyle/>
          <a:p>
            <a:pPr algn="just">
              <a:lnSpc>
                <a:spcPts val="7909"/>
              </a:lnSpc>
            </a:pPr>
            <a:r>
              <a:rPr lang="en-US" b="true" sz="5272" spc="390">
                <a:solidFill>
                  <a:srgbClr val="000000"/>
                </a:solidFill>
                <a:latin typeface="Times New Roman Bold"/>
                <a:ea typeface="Times New Roman Bold"/>
                <a:cs typeface="Times New Roman Bold"/>
                <a:sym typeface="Times New Roman Bold"/>
              </a:rPr>
              <a:t>Outline:</a:t>
            </a:r>
          </a:p>
          <a:p>
            <a:pPr algn="just" marL="582930" indent="-291465" lvl="1">
              <a:lnSpc>
                <a:spcPts val="3779"/>
              </a:lnSpc>
              <a:buFont typeface="Arial"/>
              <a:buChar char="•"/>
            </a:pPr>
            <a:r>
              <a:rPr lang="en-US" b="true" sz="2700" spc="199">
                <a:solidFill>
                  <a:srgbClr val="000000"/>
                </a:solidFill>
                <a:latin typeface="Times New Roman Bold"/>
                <a:ea typeface="Times New Roman Bold"/>
                <a:cs typeface="Times New Roman Bold"/>
                <a:sym typeface="Times New Roman Bold"/>
              </a:rPr>
              <a:t>Introduction </a:t>
            </a:r>
          </a:p>
          <a:p>
            <a:pPr algn="just" marL="582930" indent="-291465" lvl="1">
              <a:lnSpc>
                <a:spcPts val="3779"/>
              </a:lnSpc>
              <a:buFont typeface="Arial"/>
              <a:buChar char="•"/>
            </a:pPr>
            <a:r>
              <a:rPr lang="en-US" b="true" sz="2700" spc="199">
                <a:solidFill>
                  <a:srgbClr val="000000"/>
                </a:solidFill>
                <a:latin typeface="Times New Roman Bold"/>
                <a:ea typeface="Times New Roman Bold"/>
                <a:cs typeface="Times New Roman Bold"/>
                <a:sym typeface="Times New Roman Bold"/>
              </a:rPr>
              <a:t>Problem Definition </a:t>
            </a:r>
          </a:p>
          <a:p>
            <a:pPr algn="just" marL="582930" indent="-291465" lvl="1">
              <a:lnSpc>
                <a:spcPts val="3779"/>
              </a:lnSpc>
              <a:buFont typeface="Arial"/>
              <a:buChar char="•"/>
            </a:pPr>
            <a:r>
              <a:rPr lang="en-US" b="true" sz="2700" spc="199">
                <a:solidFill>
                  <a:srgbClr val="000000"/>
                </a:solidFill>
                <a:latin typeface="Times New Roman Bold"/>
                <a:ea typeface="Times New Roman Bold"/>
                <a:cs typeface="Times New Roman Bold"/>
                <a:sym typeface="Times New Roman Bold"/>
              </a:rPr>
              <a:t>Methodology </a:t>
            </a:r>
          </a:p>
          <a:p>
            <a:pPr algn="just" marL="582930" indent="-291465" lvl="1">
              <a:lnSpc>
                <a:spcPts val="3779"/>
              </a:lnSpc>
              <a:buFont typeface="Arial"/>
              <a:buChar char="•"/>
            </a:pPr>
            <a:r>
              <a:rPr lang="en-US" b="true" sz="2700" spc="199">
                <a:solidFill>
                  <a:srgbClr val="000000"/>
                </a:solidFill>
                <a:latin typeface="Times New Roman Bold"/>
                <a:ea typeface="Times New Roman Bold"/>
                <a:cs typeface="Times New Roman Bold"/>
                <a:sym typeface="Times New Roman Bold"/>
              </a:rPr>
              <a:t>Aims and Objectives </a:t>
            </a:r>
          </a:p>
          <a:p>
            <a:pPr algn="just" marL="582930" indent="-291465" lvl="1">
              <a:lnSpc>
                <a:spcPts val="3294"/>
              </a:lnSpc>
              <a:buFont typeface="Arial"/>
              <a:buChar char="•"/>
            </a:pPr>
            <a:r>
              <a:rPr lang="en-US" b="true" sz="2700" spc="199">
                <a:solidFill>
                  <a:srgbClr val="000000"/>
                </a:solidFill>
                <a:latin typeface="Times New Roman Bold"/>
                <a:ea typeface="Times New Roman Bold"/>
                <a:cs typeface="Times New Roman Bold"/>
                <a:sym typeface="Times New Roman Bold"/>
              </a:rPr>
              <a:t>System Analysis and Design </a:t>
            </a:r>
          </a:p>
          <a:p>
            <a:pPr algn="just">
              <a:lnSpc>
                <a:spcPts val="3294"/>
              </a:lnSpc>
            </a:pPr>
            <a:r>
              <a:rPr lang="en-US" sz="2700" spc="199">
                <a:solidFill>
                  <a:srgbClr val="000000"/>
                </a:solidFill>
                <a:latin typeface="Times New Roman"/>
                <a:ea typeface="Times New Roman"/>
                <a:cs typeface="Times New Roman"/>
                <a:sym typeface="Times New Roman"/>
              </a:rPr>
              <a:t>         - System requirement</a:t>
            </a:r>
          </a:p>
          <a:p>
            <a:pPr algn="just">
              <a:lnSpc>
                <a:spcPts val="3294"/>
              </a:lnSpc>
            </a:pPr>
            <a:r>
              <a:rPr lang="en-US" sz="2700" spc="199">
                <a:solidFill>
                  <a:srgbClr val="000000"/>
                </a:solidFill>
                <a:latin typeface="Times New Roman"/>
                <a:ea typeface="Times New Roman"/>
                <a:cs typeface="Times New Roman"/>
                <a:sym typeface="Times New Roman"/>
              </a:rPr>
              <a:t>         - Use-Case diagram</a:t>
            </a:r>
          </a:p>
          <a:p>
            <a:pPr algn="just">
              <a:lnSpc>
                <a:spcPts val="3294"/>
              </a:lnSpc>
            </a:pPr>
            <a:r>
              <a:rPr lang="en-US" sz="2700" spc="199">
                <a:solidFill>
                  <a:srgbClr val="000000"/>
                </a:solidFill>
                <a:latin typeface="Times New Roman"/>
                <a:ea typeface="Times New Roman"/>
                <a:cs typeface="Times New Roman"/>
                <a:sym typeface="Times New Roman"/>
              </a:rPr>
              <a:t>         - Class diagram</a:t>
            </a:r>
          </a:p>
          <a:p>
            <a:pPr algn="just">
              <a:lnSpc>
                <a:spcPts val="3294"/>
              </a:lnSpc>
            </a:pPr>
            <a:r>
              <a:rPr lang="en-US" sz="2700" spc="199">
                <a:solidFill>
                  <a:srgbClr val="000000"/>
                </a:solidFill>
                <a:latin typeface="Times New Roman"/>
                <a:ea typeface="Times New Roman"/>
                <a:cs typeface="Times New Roman"/>
                <a:sym typeface="Times New Roman"/>
              </a:rPr>
              <a:t>         - Sequence diagram </a:t>
            </a:r>
          </a:p>
          <a:p>
            <a:pPr algn="just" marL="582930" indent="-291465" lvl="1">
              <a:lnSpc>
                <a:spcPts val="3294"/>
              </a:lnSpc>
              <a:buFont typeface="Arial"/>
              <a:buChar char="•"/>
            </a:pPr>
            <a:r>
              <a:rPr lang="en-US" b="true" sz="2700" spc="199">
                <a:solidFill>
                  <a:srgbClr val="000000"/>
                </a:solidFill>
                <a:latin typeface="Times New Roman Bold"/>
                <a:ea typeface="Times New Roman Bold"/>
                <a:cs typeface="Times New Roman Bold"/>
                <a:sym typeface="Times New Roman Bold"/>
              </a:rPr>
              <a:t>Implementation</a:t>
            </a:r>
          </a:p>
          <a:p>
            <a:pPr algn="just">
              <a:lnSpc>
                <a:spcPts val="3294"/>
              </a:lnSpc>
            </a:pPr>
            <a:r>
              <a:rPr lang="en-US" sz="2700" spc="199">
                <a:solidFill>
                  <a:srgbClr val="000000"/>
                </a:solidFill>
                <a:latin typeface="Times New Roman"/>
                <a:ea typeface="Times New Roman"/>
                <a:cs typeface="Times New Roman"/>
                <a:sym typeface="Times New Roman"/>
              </a:rPr>
              <a:t>         - Programming Languages and Tools</a:t>
            </a:r>
          </a:p>
          <a:p>
            <a:pPr algn="just">
              <a:lnSpc>
                <a:spcPts val="3294"/>
              </a:lnSpc>
            </a:pPr>
            <a:r>
              <a:rPr lang="en-US" sz="2700" spc="199">
                <a:solidFill>
                  <a:srgbClr val="000000"/>
                </a:solidFill>
                <a:latin typeface="Times New Roman"/>
                <a:ea typeface="Times New Roman"/>
                <a:cs typeface="Times New Roman"/>
                <a:sym typeface="Times New Roman"/>
              </a:rPr>
              <a:t>         - User Interfaces</a:t>
            </a:r>
          </a:p>
          <a:p>
            <a:pPr algn="just">
              <a:lnSpc>
                <a:spcPts val="3294"/>
              </a:lnSpc>
            </a:pPr>
            <a:r>
              <a:rPr lang="en-US" sz="2700" spc="199">
                <a:solidFill>
                  <a:srgbClr val="000000"/>
                </a:solidFill>
                <a:latin typeface="Times New Roman"/>
                <a:ea typeface="Times New Roman"/>
                <a:cs typeface="Times New Roman"/>
                <a:sym typeface="Times New Roman"/>
              </a:rPr>
              <a:t>         - Real time database</a:t>
            </a:r>
          </a:p>
          <a:p>
            <a:pPr algn="just">
              <a:lnSpc>
                <a:spcPts val="3294"/>
              </a:lnSpc>
            </a:pPr>
            <a:r>
              <a:rPr lang="en-US" sz="2700" spc="199">
                <a:solidFill>
                  <a:srgbClr val="000000"/>
                </a:solidFill>
                <a:latin typeface="Times New Roman"/>
                <a:ea typeface="Times New Roman"/>
                <a:cs typeface="Times New Roman"/>
                <a:sym typeface="Times New Roman"/>
              </a:rPr>
              <a:t>         - Procedures Description</a:t>
            </a:r>
          </a:p>
          <a:p>
            <a:pPr algn="just" marL="582930" indent="-291465" lvl="1">
              <a:lnSpc>
                <a:spcPts val="3294"/>
              </a:lnSpc>
              <a:buFont typeface="Arial"/>
              <a:buChar char="•"/>
            </a:pPr>
            <a:r>
              <a:rPr lang="en-US" b="true" sz="2700" spc="199">
                <a:solidFill>
                  <a:srgbClr val="000000"/>
                </a:solidFill>
                <a:latin typeface="Times New Roman Bold"/>
                <a:ea typeface="Times New Roman Bold"/>
                <a:cs typeface="Times New Roman Bold"/>
                <a:sym typeface="Times New Roman Bold"/>
              </a:rPr>
              <a:t>Testing and Results </a:t>
            </a:r>
          </a:p>
          <a:p>
            <a:pPr algn="just">
              <a:lnSpc>
                <a:spcPts val="3294"/>
              </a:lnSpc>
            </a:pPr>
            <a:r>
              <a:rPr lang="en-US" sz="2700" spc="199">
                <a:solidFill>
                  <a:srgbClr val="000000"/>
                </a:solidFill>
                <a:latin typeface="Times New Roman"/>
                <a:ea typeface="Times New Roman"/>
                <a:cs typeface="Times New Roman"/>
                <a:sym typeface="Times New Roman"/>
              </a:rPr>
              <a:t>         - Unit Testing </a:t>
            </a:r>
          </a:p>
          <a:p>
            <a:pPr algn="just">
              <a:lnSpc>
                <a:spcPts val="3294"/>
              </a:lnSpc>
            </a:pPr>
            <a:r>
              <a:rPr lang="en-US" sz="2700" spc="199">
                <a:solidFill>
                  <a:srgbClr val="000000"/>
                </a:solidFill>
                <a:latin typeface="Times New Roman"/>
                <a:ea typeface="Times New Roman"/>
                <a:cs typeface="Times New Roman"/>
                <a:sym typeface="Times New Roman"/>
              </a:rPr>
              <a:t>         -Integration Testing </a:t>
            </a:r>
          </a:p>
          <a:p>
            <a:pPr algn="just">
              <a:lnSpc>
                <a:spcPts val="3294"/>
              </a:lnSpc>
            </a:pPr>
            <a:r>
              <a:rPr lang="en-US" sz="2700" spc="199">
                <a:solidFill>
                  <a:srgbClr val="000000"/>
                </a:solidFill>
                <a:latin typeface="Times New Roman"/>
                <a:ea typeface="Times New Roman"/>
                <a:cs typeface="Times New Roman"/>
                <a:sym typeface="Times New Roman"/>
              </a:rPr>
              <a:t>         - User Acceptance Testing</a:t>
            </a:r>
          </a:p>
          <a:p>
            <a:pPr algn="just">
              <a:lnSpc>
                <a:spcPts val="3294"/>
              </a:lnSpc>
            </a:pPr>
            <a:r>
              <a:rPr lang="en-US" sz="2700" spc="199">
                <a:solidFill>
                  <a:srgbClr val="000000"/>
                </a:solidFill>
                <a:latin typeface="Times New Roman"/>
                <a:ea typeface="Times New Roman"/>
                <a:cs typeface="Times New Roman"/>
                <a:sym typeface="Times New Roman"/>
              </a:rPr>
              <a:t>         - Test Cases</a:t>
            </a:r>
          </a:p>
          <a:p>
            <a:pPr algn="just">
              <a:lnSpc>
                <a:spcPts val="3294"/>
              </a:lnSpc>
            </a:pPr>
            <a:r>
              <a:rPr lang="en-US" sz="2700" spc="199">
                <a:solidFill>
                  <a:srgbClr val="000000"/>
                </a:solidFill>
                <a:latin typeface="Times New Roman"/>
                <a:ea typeface="Times New Roman"/>
                <a:cs typeface="Times New Roman"/>
                <a:sym typeface="Times New Roman"/>
              </a:rPr>
              <a:t>         - Discussion The Testing</a:t>
            </a:r>
          </a:p>
          <a:p>
            <a:pPr algn="just" marL="582930" indent="-291465" lvl="1">
              <a:lnSpc>
                <a:spcPts val="3779"/>
              </a:lnSpc>
              <a:buFont typeface="Arial"/>
              <a:buChar char="•"/>
            </a:pPr>
            <a:r>
              <a:rPr lang="en-US" b="true" sz="2700" spc="199">
                <a:solidFill>
                  <a:srgbClr val="000000"/>
                </a:solidFill>
                <a:latin typeface="Times New Roman Bold"/>
                <a:ea typeface="Times New Roman Bold"/>
                <a:cs typeface="Times New Roman Bold"/>
                <a:sym typeface="Times New Roman Bold"/>
              </a:rPr>
              <a:t>Conclusion and future work</a:t>
            </a:r>
          </a:p>
          <a:p>
            <a:pPr algn="just" marL="561341" indent="-280670" lvl="1">
              <a:lnSpc>
                <a:spcPts val="3640"/>
              </a:lnSpc>
              <a:buFont typeface="Arial"/>
              <a:buChar char="•"/>
            </a:pPr>
            <a:r>
              <a:rPr lang="en-US" b="true" sz="2600" spc="192">
                <a:solidFill>
                  <a:srgbClr val="000000"/>
                </a:solidFill>
                <a:latin typeface="Times New Roman Bold"/>
                <a:ea typeface="Times New Roman Bold"/>
                <a:cs typeface="Times New Roman Bold"/>
                <a:sym typeface="Times New Roman Bold"/>
              </a:rPr>
              <a:t>References</a:t>
            </a:r>
          </a:p>
          <a:p>
            <a:pPr algn="just">
              <a:lnSpc>
                <a:spcPts val="3919"/>
              </a:lnSpc>
            </a:pP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sp>
        <p:nvSpPr>
          <p:cNvPr name="AutoShape 5" id="5"/>
          <p:cNvSpPr/>
          <p:nvPr/>
        </p:nvSpPr>
        <p:spPr>
          <a:xfrm>
            <a:off x="1120616" y="8383902"/>
            <a:ext cx="16138684" cy="0"/>
          </a:xfrm>
          <a:prstGeom prst="line">
            <a:avLst/>
          </a:prstGeom>
          <a:ln cap="flat" w="38100">
            <a:solidFill>
              <a:srgbClr val="875A7A"/>
            </a:solidFill>
            <a:prstDash val="solid"/>
            <a:headEnd type="none" len="sm" w="sm"/>
            <a:tailEnd type="none" len="sm" w="sm"/>
          </a:ln>
        </p:spPr>
      </p:sp>
      <p:grpSp>
        <p:nvGrpSpPr>
          <p:cNvPr name="Group 6" id="6"/>
          <p:cNvGrpSpPr/>
          <p:nvPr/>
        </p:nvGrpSpPr>
        <p:grpSpPr>
          <a:xfrm rot="0">
            <a:off x="17213342" y="2701178"/>
            <a:ext cx="4758515" cy="47585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8" id="8"/>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9" id="9"/>
          <p:cNvGrpSpPr/>
          <p:nvPr/>
        </p:nvGrpSpPr>
        <p:grpSpPr>
          <a:xfrm rot="0">
            <a:off x="16666443" y="656036"/>
            <a:ext cx="1241303" cy="575606"/>
            <a:chOff x="0" y="0"/>
            <a:chExt cx="326928" cy="151600"/>
          </a:xfrm>
        </p:grpSpPr>
        <p:sp>
          <p:nvSpPr>
            <p:cNvPr name="Freeform 10" id="10"/>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1" id="11"/>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2" id="12"/>
          <p:cNvSpPr/>
          <p:nvPr/>
        </p:nvSpPr>
        <p:spPr>
          <a:xfrm flipH="false" flipV="false" rot="0">
            <a:off x="16942528" y="793769"/>
            <a:ext cx="633545" cy="300142"/>
          </a:xfrm>
          <a:custGeom>
            <a:avLst/>
            <a:gdLst/>
            <a:ahLst/>
            <a:cxnLst/>
            <a:rect r="r" b="b" t="t" l="l"/>
            <a:pathLst>
              <a:path h="300142" w="633545">
                <a:moveTo>
                  <a:pt x="0" y="0"/>
                </a:moveTo>
                <a:lnTo>
                  <a:pt x="633544" y="0"/>
                </a:lnTo>
                <a:lnTo>
                  <a:pt x="633544"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792710" y="855088"/>
            <a:ext cx="15454119" cy="629285"/>
          </a:xfrm>
          <a:prstGeom prst="rect">
            <a:avLst/>
          </a:prstGeom>
        </p:spPr>
        <p:txBody>
          <a:bodyPr anchor="t" rtlCol="false" tIns="0" lIns="0" bIns="0" rIns="0">
            <a:spAutoFit/>
          </a:bodyPr>
          <a:lstStyle/>
          <a:p>
            <a:pPr algn="ctr">
              <a:lnSpc>
                <a:spcPts val="4690"/>
              </a:lnSpc>
            </a:pPr>
            <a:r>
              <a:rPr lang="en-US" b="true" sz="3350" i="true">
                <a:solidFill>
                  <a:srgbClr val="000000"/>
                </a:solidFill>
                <a:latin typeface="Times New Roman Bold Italics"/>
                <a:ea typeface="Times New Roman Bold Italics"/>
                <a:cs typeface="Times New Roman Bold Italics"/>
                <a:sym typeface="Times New Roman Bold Italics"/>
              </a:rPr>
              <a:t> INTRODUCTION </a:t>
            </a:r>
          </a:p>
        </p:txBody>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sp>
        <p:nvSpPr>
          <p:cNvPr name="TextBox 15" id="15"/>
          <p:cNvSpPr txBox="true"/>
          <p:nvPr/>
        </p:nvSpPr>
        <p:spPr>
          <a:xfrm rot="0">
            <a:off x="0" y="2231190"/>
            <a:ext cx="18288000" cy="5527041"/>
          </a:xfrm>
          <a:prstGeom prst="rect">
            <a:avLst/>
          </a:prstGeom>
        </p:spPr>
        <p:txBody>
          <a:bodyPr anchor="t" rtlCol="false" tIns="0" lIns="0" bIns="0" rIns="0">
            <a:spAutoFit/>
          </a:bodyPr>
          <a:lstStyle/>
          <a:p>
            <a:pPr algn="ctr">
              <a:lnSpc>
                <a:spcPts val="6159"/>
              </a:lnSpc>
            </a:pPr>
            <a:r>
              <a:rPr lang="en-US" sz="4399">
                <a:solidFill>
                  <a:srgbClr val="000000"/>
                </a:solidFill>
                <a:latin typeface="Times New Roman"/>
                <a:ea typeface="Times New Roman"/>
                <a:cs typeface="Times New Roman"/>
                <a:sym typeface="Times New Roman"/>
              </a:rPr>
              <a:t>Technology is improving fast, but many people, especially those with disabilities, still face challenges in accessibility. Our project, the Interactive Smart Mirror, helps make daily life easier with a simple, touch-free experience. Using Ultrasonic sensors, an LCD screen, and live updates, the mirror lets users check the time,Date and tasks without touching anything. In this presentation, we will talk about the problem, goals, and system design of our smart mirror.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sp>
        <p:nvSpPr>
          <p:cNvPr name="AutoShape 5" id="5"/>
          <p:cNvSpPr/>
          <p:nvPr/>
        </p:nvSpPr>
        <p:spPr>
          <a:xfrm>
            <a:off x="-1402759" y="9520571"/>
            <a:ext cx="16138684" cy="0"/>
          </a:xfrm>
          <a:prstGeom prst="line">
            <a:avLst/>
          </a:prstGeom>
          <a:ln cap="flat" w="38100">
            <a:solidFill>
              <a:srgbClr val="875A7A"/>
            </a:solidFill>
            <a:prstDash val="solid"/>
            <a:headEnd type="none" len="sm" w="sm"/>
            <a:tailEnd type="none" len="sm" w="sm"/>
          </a:ln>
        </p:spPr>
      </p:sp>
      <p:grpSp>
        <p:nvGrpSpPr>
          <p:cNvPr name="Group 6" id="6"/>
          <p:cNvGrpSpPr/>
          <p:nvPr/>
        </p:nvGrpSpPr>
        <p:grpSpPr>
          <a:xfrm rot="0">
            <a:off x="17213342" y="2701178"/>
            <a:ext cx="4758515" cy="47585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8" id="8"/>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9" id="9"/>
          <p:cNvGrpSpPr/>
          <p:nvPr/>
        </p:nvGrpSpPr>
        <p:grpSpPr>
          <a:xfrm rot="0">
            <a:off x="16666443" y="656036"/>
            <a:ext cx="1241303" cy="575606"/>
            <a:chOff x="0" y="0"/>
            <a:chExt cx="326928" cy="151600"/>
          </a:xfrm>
        </p:grpSpPr>
        <p:sp>
          <p:nvSpPr>
            <p:cNvPr name="Freeform 10" id="10"/>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1" id="11"/>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2" id="12"/>
          <p:cNvSpPr/>
          <p:nvPr/>
        </p:nvSpPr>
        <p:spPr>
          <a:xfrm flipH="false" flipV="false" rot="0">
            <a:off x="16942528" y="793769"/>
            <a:ext cx="633545" cy="300142"/>
          </a:xfrm>
          <a:custGeom>
            <a:avLst/>
            <a:gdLst/>
            <a:ahLst/>
            <a:cxnLst/>
            <a:rect r="r" b="b" t="t" l="l"/>
            <a:pathLst>
              <a:path h="300142" w="633545">
                <a:moveTo>
                  <a:pt x="0" y="0"/>
                </a:moveTo>
                <a:lnTo>
                  <a:pt x="633544" y="0"/>
                </a:lnTo>
                <a:lnTo>
                  <a:pt x="633544"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4653231" y="317300"/>
            <a:ext cx="6905018" cy="4763135"/>
          </a:xfrm>
          <a:prstGeom prst="rect">
            <a:avLst/>
          </a:prstGeom>
        </p:spPr>
        <p:txBody>
          <a:bodyPr anchor="t" rtlCol="false" tIns="0" lIns="0" bIns="0" rIns="0">
            <a:spAutoFit/>
          </a:bodyPr>
          <a:lstStyle/>
          <a:p>
            <a:pPr algn="just">
              <a:lnSpc>
                <a:spcPts val="4690"/>
              </a:lnSpc>
            </a:pPr>
            <a:r>
              <a:rPr lang="en-US" b="true" sz="3350" i="true">
                <a:solidFill>
                  <a:srgbClr val="000000"/>
                </a:solidFill>
                <a:latin typeface="Times New Roman Bold Italics"/>
                <a:ea typeface="Times New Roman Bold Italics"/>
                <a:cs typeface="Times New Roman Bold Italics"/>
                <a:sym typeface="Times New Roman Bold Italics"/>
              </a:rPr>
              <a:t>            PROBLEM DEFINITION</a:t>
            </a:r>
          </a:p>
          <a:p>
            <a:pPr algn="just">
              <a:lnSpc>
                <a:spcPts val="4690"/>
              </a:lnSpc>
            </a:pPr>
          </a:p>
          <a:p>
            <a:pPr algn="just">
              <a:lnSpc>
                <a:spcPts val="4690"/>
              </a:lnSpc>
            </a:pPr>
          </a:p>
          <a:p>
            <a:pPr algn="just">
              <a:lnSpc>
                <a:spcPts val="4690"/>
              </a:lnSpc>
            </a:pPr>
          </a:p>
          <a:p>
            <a:pPr algn="l">
              <a:lnSpc>
                <a:spcPts val="4690"/>
              </a:lnSpc>
            </a:pPr>
          </a:p>
          <a:p>
            <a:pPr algn="l">
              <a:lnSpc>
                <a:spcPts val="4690"/>
              </a:lnSpc>
            </a:pPr>
          </a:p>
          <a:p>
            <a:pPr algn="l">
              <a:lnSpc>
                <a:spcPts val="4690"/>
              </a:lnSpc>
            </a:pPr>
          </a:p>
          <a:p>
            <a:pPr algn="l">
              <a:lnSpc>
                <a:spcPts val="4690"/>
              </a:lnSpc>
            </a:pPr>
          </a:p>
        </p:txBody>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
        <p:nvSpPr>
          <p:cNvPr name="TextBox 15" id="15"/>
          <p:cNvSpPr txBox="true"/>
          <p:nvPr/>
        </p:nvSpPr>
        <p:spPr>
          <a:xfrm rot="0">
            <a:off x="190599" y="1935034"/>
            <a:ext cx="18097401" cy="6457950"/>
          </a:xfrm>
          <a:prstGeom prst="rect">
            <a:avLst/>
          </a:prstGeom>
        </p:spPr>
        <p:txBody>
          <a:bodyPr anchor="t" rtlCol="false" tIns="0" lIns="0" bIns="0" rIns="0">
            <a:spAutoFit/>
          </a:bodyPr>
          <a:lstStyle/>
          <a:p>
            <a:pPr algn="l">
              <a:lnSpc>
                <a:spcPts val="5740"/>
              </a:lnSpc>
            </a:pPr>
            <a:r>
              <a:rPr lang="en-US" sz="4100" b="true">
                <a:solidFill>
                  <a:srgbClr val="000000"/>
                </a:solidFill>
                <a:latin typeface="Times New Roman Bold"/>
                <a:ea typeface="Times New Roman Bold"/>
                <a:cs typeface="Times New Roman Bold"/>
                <a:sym typeface="Times New Roman Bold"/>
              </a:rPr>
              <a:t>Ideal:</a:t>
            </a:r>
            <a:r>
              <a:rPr lang="en-US" sz="4100">
                <a:solidFill>
                  <a:srgbClr val="000000"/>
                </a:solidFill>
                <a:latin typeface="Times New Roman"/>
                <a:ea typeface="Times New Roman"/>
                <a:cs typeface="Times New Roman"/>
                <a:sym typeface="Times New Roman"/>
              </a:rPr>
              <a:t> Technology should be inclusive and simple , enabling everyone, including people with disabilities, to live independently and productively.</a:t>
            </a:r>
          </a:p>
          <a:p>
            <a:pPr algn="ctr">
              <a:lnSpc>
                <a:spcPts val="5740"/>
              </a:lnSpc>
            </a:pPr>
          </a:p>
          <a:p>
            <a:pPr algn="l">
              <a:lnSpc>
                <a:spcPts val="5740"/>
              </a:lnSpc>
            </a:pPr>
            <a:r>
              <a:rPr lang="en-US" sz="4100" b="true">
                <a:solidFill>
                  <a:srgbClr val="000000"/>
                </a:solidFill>
                <a:latin typeface="Times New Roman Bold"/>
                <a:ea typeface="Times New Roman Bold"/>
                <a:cs typeface="Times New Roman Bold"/>
                <a:sym typeface="Times New Roman Bold"/>
              </a:rPr>
              <a:t>Reality:</a:t>
            </a:r>
            <a:r>
              <a:rPr lang="en-US" sz="4100">
                <a:solidFill>
                  <a:srgbClr val="000000"/>
                </a:solidFill>
                <a:latin typeface="Times New Roman"/>
                <a:ea typeface="Times New Roman"/>
                <a:cs typeface="Times New Roman"/>
                <a:sym typeface="Times New Roman"/>
              </a:rPr>
              <a:t> Current technologies are often complex and not fully accessible, making it hard for disabled individuals to manage daily tasks and achieve their goals.</a:t>
            </a:r>
          </a:p>
          <a:p>
            <a:pPr algn="ctr">
              <a:lnSpc>
                <a:spcPts val="5740"/>
              </a:lnSpc>
            </a:pPr>
          </a:p>
          <a:p>
            <a:pPr algn="l">
              <a:lnSpc>
                <a:spcPts val="5740"/>
              </a:lnSpc>
            </a:pPr>
            <a:r>
              <a:rPr lang="en-US" sz="4100" b="true">
                <a:solidFill>
                  <a:srgbClr val="000000"/>
                </a:solidFill>
                <a:latin typeface="Times New Roman Bold"/>
                <a:ea typeface="Times New Roman Bold"/>
                <a:cs typeface="Times New Roman Bold"/>
                <a:sym typeface="Times New Roman Bold"/>
              </a:rPr>
              <a:t>Conclusion </a:t>
            </a:r>
            <a:r>
              <a:rPr lang="en-US" sz="4100">
                <a:solidFill>
                  <a:srgbClr val="000000"/>
                </a:solidFill>
                <a:latin typeface="Times New Roman"/>
                <a:ea typeface="Times New Roman"/>
                <a:cs typeface="Times New Roman"/>
                <a:sym typeface="Times New Roman"/>
              </a:rPr>
              <a:t>: smart solutions like the "Interactive Smart Mirror" are urgently needed to improve accessibility the quality of life.</a:t>
            </a:r>
          </a:p>
          <a:p>
            <a:pPr algn="ctr">
              <a:lnSpc>
                <a:spcPts val="475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17213342" y="2701178"/>
            <a:ext cx="4758515" cy="47585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8" id="8"/>
          <p:cNvGrpSpPr/>
          <p:nvPr/>
        </p:nvGrpSpPr>
        <p:grpSpPr>
          <a:xfrm rot="0">
            <a:off x="16666443" y="656036"/>
            <a:ext cx="1241303" cy="575606"/>
            <a:chOff x="0" y="0"/>
            <a:chExt cx="326928" cy="151600"/>
          </a:xfrm>
        </p:grpSpPr>
        <p:sp>
          <p:nvSpPr>
            <p:cNvPr name="Freeform 9" id="9"/>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0" id="10"/>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1" id="11"/>
          <p:cNvSpPr/>
          <p:nvPr/>
        </p:nvSpPr>
        <p:spPr>
          <a:xfrm flipH="false" flipV="false" rot="0">
            <a:off x="16942528" y="793769"/>
            <a:ext cx="633545" cy="300142"/>
          </a:xfrm>
          <a:custGeom>
            <a:avLst/>
            <a:gdLst/>
            <a:ahLst/>
            <a:cxnLst/>
            <a:rect r="r" b="b" t="t" l="l"/>
            <a:pathLst>
              <a:path h="300142" w="633545">
                <a:moveTo>
                  <a:pt x="0" y="0"/>
                </a:moveTo>
                <a:lnTo>
                  <a:pt x="633544" y="0"/>
                </a:lnTo>
                <a:lnTo>
                  <a:pt x="633544"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837880" y="225134"/>
            <a:ext cx="9904677" cy="7486226"/>
          </a:xfrm>
          <a:prstGeom prst="rect">
            <a:avLst/>
          </a:prstGeom>
        </p:spPr>
        <p:txBody>
          <a:bodyPr anchor="t" rtlCol="false" tIns="0" lIns="0" bIns="0" rIns="0">
            <a:spAutoFit/>
          </a:bodyPr>
          <a:lstStyle/>
          <a:p>
            <a:pPr algn="r">
              <a:lnSpc>
                <a:spcPts val="4690"/>
              </a:lnSpc>
            </a:pPr>
            <a:r>
              <a:rPr lang="en-US" b="true" sz="3350" i="true">
                <a:solidFill>
                  <a:srgbClr val="000000"/>
                </a:solidFill>
                <a:latin typeface="Times New Roman Bold Italics"/>
                <a:ea typeface="Times New Roman Bold Italics"/>
                <a:cs typeface="Times New Roman Bold Italics"/>
                <a:sym typeface="Times New Roman Bold Italics"/>
              </a:rPr>
              <a:t>METHODOLOGY </a:t>
            </a:r>
          </a:p>
          <a:p>
            <a:pPr algn="l">
              <a:lnSpc>
                <a:spcPts val="2019"/>
              </a:lnSpc>
            </a:pPr>
          </a:p>
          <a:p>
            <a:pPr algn="l">
              <a:lnSpc>
                <a:spcPts val="1719"/>
              </a:lnSpc>
            </a:pPr>
          </a:p>
          <a:p>
            <a:pPr algn="l">
              <a:lnSpc>
                <a:spcPts val="2865"/>
              </a:lnSpc>
            </a:pPr>
          </a:p>
          <a:p>
            <a:pPr algn="l">
              <a:lnSpc>
                <a:spcPts val="2865"/>
              </a:lnSpc>
            </a:pPr>
          </a:p>
          <a:p>
            <a:pPr algn="l">
              <a:lnSpc>
                <a:spcPts val="2865"/>
              </a:lnSpc>
            </a:pPr>
          </a:p>
          <a:p>
            <a:pPr algn="l">
              <a:lnSpc>
                <a:spcPts val="2292"/>
              </a:lnSpc>
            </a:pPr>
          </a:p>
          <a:p>
            <a:pPr algn="l">
              <a:lnSpc>
                <a:spcPts val="2292"/>
              </a:lnSpc>
            </a:pPr>
          </a:p>
          <a:p>
            <a:pPr algn="l">
              <a:lnSpc>
                <a:spcPts val="2292"/>
              </a:lnSpc>
            </a:pPr>
          </a:p>
          <a:p>
            <a:pPr algn="l">
              <a:lnSpc>
                <a:spcPts val="2865"/>
              </a:lnSpc>
            </a:pPr>
          </a:p>
          <a:p>
            <a:pPr algn="l">
              <a:lnSpc>
                <a:spcPts val="2865"/>
              </a:lnSpc>
            </a:pPr>
          </a:p>
          <a:p>
            <a:pPr algn="l">
              <a:lnSpc>
                <a:spcPts val="2865"/>
              </a:lnSpc>
            </a:pPr>
          </a:p>
          <a:p>
            <a:pPr algn="l">
              <a:lnSpc>
                <a:spcPts val="2865"/>
              </a:lnSpc>
            </a:pPr>
          </a:p>
          <a:p>
            <a:pPr algn="l">
              <a:lnSpc>
                <a:spcPts val="4265"/>
              </a:lnSpc>
            </a:pPr>
            <a:r>
              <a:rPr lang="en-US" b="true" sz="3047" i="true">
                <a:solidFill>
                  <a:srgbClr val="000000"/>
                </a:solidFill>
                <a:latin typeface="Times New Roman Bold Italics"/>
                <a:ea typeface="Times New Roman Bold Italics"/>
                <a:cs typeface="Times New Roman Bold Italics"/>
                <a:sym typeface="Times New Roman Bold Italics"/>
              </a:rPr>
              <a:t>    </a:t>
            </a:r>
          </a:p>
          <a:p>
            <a:pPr algn="l">
              <a:lnSpc>
                <a:spcPts val="4265"/>
              </a:lnSpc>
            </a:pPr>
          </a:p>
          <a:p>
            <a:pPr algn="l">
              <a:lnSpc>
                <a:spcPts val="4265"/>
              </a:lnSpc>
            </a:pPr>
          </a:p>
          <a:p>
            <a:pPr algn="l">
              <a:lnSpc>
                <a:spcPts val="4420"/>
              </a:lnSpc>
            </a:pPr>
          </a:p>
          <a:p>
            <a:pPr algn="l">
              <a:lnSpc>
                <a:spcPts val="6906"/>
              </a:lnSpc>
            </a:pPr>
          </a:p>
        </p:txBody>
      </p:sp>
      <p:sp>
        <p:nvSpPr>
          <p:cNvPr name="TextBox 13" id="13"/>
          <p:cNvSpPr txBox="true"/>
          <p:nvPr/>
        </p:nvSpPr>
        <p:spPr>
          <a:xfrm rot="0">
            <a:off x="262080" y="1126868"/>
            <a:ext cx="15511297" cy="1041882"/>
          </a:xfrm>
          <a:prstGeom prst="rect">
            <a:avLst/>
          </a:prstGeom>
        </p:spPr>
        <p:txBody>
          <a:bodyPr anchor="t" rtlCol="false" tIns="0" lIns="0" bIns="0" rIns="0">
            <a:spAutoFit/>
          </a:bodyPr>
          <a:lstStyle/>
          <a:p>
            <a:pPr algn="l">
              <a:lnSpc>
                <a:spcPts val="3998"/>
              </a:lnSpc>
            </a:pPr>
            <a:r>
              <a:rPr lang="en-US" sz="2856" b="true">
                <a:solidFill>
                  <a:srgbClr val="000000"/>
                </a:solidFill>
                <a:latin typeface="Times New Roman Bold"/>
                <a:ea typeface="Times New Roman Bold"/>
                <a:cs typeface="Times New Roman Bold"/>
                <a:sym typeface="Times New Roman Bold"/>
              </a:rPr>
              <a:t>Waterfall Model:</a:t>
            </a:r>
            <a:r>
              <a:rPr lang="en-US" sz="2856">
                <a:solidFill>
                  <a:srgbClr val="000000"/>
                </a:solidFill>
                <a:latin typeface="Times New Roman"/>
                <a:ea typeface="Times New Roman"/>
                <a:cs typeface="Times New Roman"/>
                <a:sym typeface="Times New Roman"/>
              </a:rPr>
              <a:t> A step-by-step approach suitable for projects with clear and fixed requirements, ensuring organized execution and complete documentation.</a:t>
            </a:r>
          </a:p>
        </p:txBody>
      </p:sp>
      <p:sp>
        <p:nvSpPr>
          <p:cNvPr name="TextBox 14" id="14"/>
          <p:cNvSpPr txBox="true"/>
          <p:nvPr/>
        </p:nvSpPr>
        <p:spPr>
          <a:xfrm rot="0">
            <a:off x="0" y="1812649"/>
            <a:ext cx="16754760" cy="5409565"/>
          </a:xfrm>
          <a:prstGeom prst="rect">
            <a:avLst/>
          </a:prstGeom>
        </p:spPr>
        <p:txBody>
          <a:bodyPr anchor="t" rtlCol="false" tIns="0" lIns="0" bIns="0" rIns="0">
            <a:spAutoFit/>
          </a:bodyPr>
          <a:lstStyle/>
          <a:p>
            <a:pPr algn="ctr">
              <a:lnSpc>
                <a:spcPts val="4759"/>
              </a:lnSpc>
            </a:pPr>
          </a:p>
          <a:p>
            <a:pPr algn="l">
              <a:lnSpc>
                <a:spcPts val="4200"/>
              </a:lnSpc>
            </a:pPr>
            <a:r>
              <a:rPr lang="en-US" sz="3000" b="true">
                <a:solidFill>
                  <a:srgbClr val="000000"/>
                </a:solidFill>
                <a:latin typeface="Times New Roman Bold"/>
                <a:ea typeface="Times New Roman Bold"/>
                <a:cs typeface="Times New Roman Bold"/>
                <a:sym typeface="Times New Roman Bold"/>
              </a:rPr>
              <a:t>    </a:t>
            </a:r>
            <a:r>
              <a:rPr lang="en-US" sz="3000" b="true">
                <a:solidFill>
                  <a:srgbClr val="000000"/>
                </a:solidFill>
                <a:latin typeface="Times New Roman Bold"/>
                <a:ea typeface="Times New Roman Bold"/>
                <a:cs typeface="Times New Roman Bold"/>
                <a:sym typeface="Times New Roman Bold"/>
              </a:rPr>
              <a:t>The project phases:</a:t>
            </a:r>
          </a:p>
          <a:p>
            <a:pPr algn="l">
              <a:lnSpc>
                <a:spcPts val="3920"/>
              </a:lnSpc>
            </a:pPr>
          </a:p>
          <a:p>
            <a:pPr algn="l" marL="604523" indent="-302261" lvl="1">
              <a:lnSpc>
                <a:spcPts val="3640"/>
              </a:lnSpc>
              <a:buFont typeface="Arial"/>
              <a:buChar char="•"/>
            </a:pPr>
            <a:r>
              <a:rPr lang="en-US" b="true" sz="2800">
                <a:solidFill>
                  <a:srgbClr val="000000"/>
                </a:solidFill>
                <a:latin typeface="Times New Roman Bold"/>
                <a:ea typeface="Times New Roman Bold"/>
                <a:cs typeface="Times New Roman Bold"/>
                <a:sym typeface="Times New Roman Bold"/>
              </a:rPr>
              <a:t>Requirements Gathering:</a:t>
            </a:r>
            <a:r>
              <a:rPr lang="en-US" sz="2800">
                <a:solidFill>
                  <a:srgbClr val="000000"/>
                </a:solidFill>
                <a:latin typeface="Times New Roman"/>
                <a:ea typeface="Times New Roman"/>
                <a:cs typeface="Times New Roman"/>
                <a:sym typeface="Times New Roman"/>
              </a:rPr>
              <a:t> I</a:t>
            </a:r>
            <a:r>
              <a:rPr lang="en-US" sz="2800">
                <a:solidFill>
                  <a:srgbClr val="000000"/>
                </a:solidFill>
                <a:latin typeface="Times New Roman"/>
                <a:ea typeface="Times New Roman"/>
                <a:cs typeface="Times New Roman"/>
                <a:sym typeface="Times New Roman"/>
              </a:rPr>
              <a:t>dentify user needs, especially accessibility features, and decide on hardware/software specifications.</a:t>
            </a:r>
          </a:p>
          <a:p>
            <a:pPr algn="l" marL="604523" indent="-302261" lvl="1">
              <a:lnSpc>
                <a:spcPts val="3640"/>
              </a:lnSpc>
              <a:buFont typeface="Arial"/>
              <a:buChar char="•"/>
            </a:pPr>
            <a:r>
              <a:rPr lang="en-US" b="true" sz="2800">
                <a:solidFill>
                  <a:srgbClr val="000000"/>
                </a:solidFill>
                <a:latin typeface="Times New Roman Bold"/>
                <a:ea typeface="Times New Roman Bold"/>
                <a:cs typeface="Times New Roman Bold"/>
                <a:sym typeface="Times New Roman Bold"/>
              </a:rPr>
              <a:t>System Design:</a:t>
            </a:r>
            <a:r>
              <a:rPr lang="en-US" sz="2800">
                <a:solidFill>
                  <a:srgbClr val="000000"/>
                </a:solidFill>
                <a:latin typeface="Times New Roman"/>
                <a:ea typeface="Times New Roman"/>
                <a:cs typeface="Times New Roman"/>
                <a:sym typeface="Times New Roman"/>
              </a:rPr>
              <a:t> Plan the architecture, including motion sensors, LCDs, and Wi-Fi for ease of use.</a:t>
            </a:r>
          </a:p>
          <a:p>
            <a:pPr algn="l" marL="604523" indent="-302261" lvl="1">
              <a:lnSpc>
                <a:spcPts val="3640"/>
              </a:lnSpc>
              <a:buFont typeface="Arial"/>
              <a:buChar char="•"/>
            </a:pPr>
            <a:r>
              <a:rPr lang="en-US" b="true" sz="2800">
                <a:solidFill>
                  <a:srgbClr val="000000"/>
                </a:solidFill>
                <a:latin typeface="Times New Roman Bold"/>
                <a:ea typeface="Times New Roman Bold"/>
                <a:cs typeface="Times New Roman Bold"/>
                <a:sym typeface="Times New Roman Bold"/>
              </a:rPr>
              <a:t>Development:</a:t>
            </a:r>
            <a:r>
              <a:rPr lang="en-US" sz="2800">
                <a:solidFill>
                  <a:srgbClr val="000000"/>
                </a:solidFill>
                <a:latin typeface="Times New Roman"/>
                <a:ea typeface="Times New Roman"/>
                <a:cs typeface="Times New Roman"/>
                <a:sym typeface="Times New Roman"/>
              </a:rPr>
              <a:t> Code the software and integrate hardware for touchless interaction and real-time updates.</a:t>
            </a:r>
          </a:p>
          <a:p>
            <a:pPr algn="l" marL="604523" indent="-302261" lvl="1">
              <a:lnSpc>
                <a:spcPts val="3640"/>
              </a:lnSpc>
              <a:buFont typeface="Arial"/>
              <a:buChar char="•"/>
            </a:pPr>
            <a:r>
              <a:rPr lang="en-US" b="true" sz="2800">
                <a:solidFill>
                  <a:srgbClr val="000000"/>
                </a:solidFill>
                <a:latin typeface="Times New Roman Bold"/>
                <a:ea typeface="Times New Roman Bold"/>
                <a:cs typeface="Times New Roman Bold"/>
                <a:sym typeface="Times New Roman Bold"/>
              </a:rPr>
              <a:t>Testing: </a:t>
            </a:r>
            <a:r>
              <a:rPr lang="en-US" sz="2800">
                <a:solidFill>
                  <a:srgbClr val="000000"/>
                </a:solidFill>
                <a:latin typeface="Times New Roman"/>
                <a:ea typeface="Times New Roman"/>
                <a:cs typeface="Times New Roman"/>
                <a:sym typeface="Times New Roman"/>
              </a:rPr>
              <a:t>Validate functionality, usability, and hardware-software integration.</a:t>
            </a:r>
          </a:p>
          <a:p>
            <a:pPr algn="l" marL="604523" indent="-302261" lvl="1">
              <a:lnSpc>
                <a:spcPts val="3640"/>
              </a:lnSpc>
              <a:buFont typeface="Arial"/>
              <a:buChar char="•"/>
            </a:pPr>
            <a:r>
              <a:rPr lang="en-US" b="true" sz="2800">
                <a:solidFill>
                  <a:srgbClr val="000000"/>
                </a:solidFill>
                <a:latin typeface="Times New Roman Bold"/>
                <a:ea typeface="Times New Roman Bold"/>
                <a:cs typeface="Times New Roman Bold"/>
                <a:sym typeface="Times New Roman Bold"/>
              </a:rPr>
              <a:t>Deployment:</a:t>
            </a:r>
            <a:r>
              <a:rPr lang="en-US" sz="2800">
                <a:solidFill>
                  <a:srgbClr val="000000"/>
                </a:solidFill>
                <a:latin typeface="Times New Roman"/>
                <a:ea typeface="Times New Roman"/>
                <a:cs typeface="Times New Roman"/>
                <a:sym typeface="Times New Roman"/>
              </a:rPr>
              <a:t> Install the smart mirror in the target environment and ensure full functionality.</a:t>
            </a:r>
          </a:p>
          <a:p>
            <a:pPr algn="l" marL="604523" indent="-302261" lvl="1">
              <a:lnSpc>
                <a:spcPts val="3640"/>
              </a:lnSpc>
              <a:buFont typeface="Arial"/>
              <a:buChar char="•"/>
            </a:pPr>
            <a:r>
              <a:rPr lang="en-US" b="true" sz="2800">
                <a:solidFill>
                  <a:srgbClr val="000000"/>
                </a:solidFill>
                <a:latin typeface="Times New Roman Bold"/>
                <a:ea typeface="Times New Roman Bold"/>
                <a:cs typeface="Times New Roman Bold"/>
                <a:sym typeface="Times New Roman Bold"/>
              </a:rPr>
              <a:t>Maintenance:</a:t>
            </a:r>
            <a:r>
              <a:rPr lang="en-US" sz="2800">
                <a:solidFill>
                  <a:srgbClr val="000000"/>
                </a:solidFill>
                <a:latin typeface="Times New Roman"/>
                <a:ea typeface="Times New Roman"/>
                <a:cs typeface="Times New Roman"/>
                <a:sym typeface="Times New Roman"/>
              </a:rPr>
              <a:t> Provide ongoing support, updates, and fixes as needed.</a:t>
            </a:r>
          </a:p>
          <a:p>
            <a:pPr algn="ctr">
              <a:lnSpc>
                <a:spcPts val="4759"/>
              </a:lnSpc>
            </a:pPr>
          </a:p>
        </p:txBody>
      </p:sp>
      <p:sp>
        <p:nvSpPr>
          <p:cNvPr name="Freeform 15" id="15"/>
          <p:cNvSpPr/>
          <p:nvPr/>
        </p:nvSpPr>
        <p:spPr>
          <a:xfrm flipH="false" flipV="false" rot="0">
            <a:off x="11080245" y="6172509"/>
            <a:ext cx="6133097" cy="3273340"/>
          </a:xfrm>
          <a:custGeom>
            <a:avLst/>
            <a:gdLst/>
            <a:ahLst/>
            <a:cxnLst/>
            <a:rect r="r" b="b" t="t" l="l"/>
            <a:pathLst>
              <a:path h="3273340" w="6133097">
                <a:moveTo>
                  <a:pt x="0" y="0"/>
                </a:moveTo>
                <a:lnTo>
                  <a:pt x="6133097" y="0"/>
                </a:lnTo>
                <a:lnTo>
                  <a:pt x="6133097" y="3273340"/>
                </a:lnTo>
                <a:lnTo>
                  <a:pt x="0" y="3273340"/>
                </a:lnTo>
                <a:lnTo>
                  <a:pt x="0" y="0"/>
                </a:lnTo>
                <a:close/>
              </a:path>
            </a:pathLst>
          </a:custGeom>
          <a:blipFill>
            <a:blip r:embed="rId4"/>
            <a:stretch>
              <a:fillRect l="-650" t="0" r="0" b="-3485"/>
            </a:stretch>
          </a:blipFill>
        </p:spPr>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17213342" y="2701178"/>
            <a:ext cx="4758515" cy="47585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8" id="8"/>
          <p:cNvGrpSpPr/>
          <p:nvPr/>
        </p:nvGrpSpPr>
        <p:grpSpPr>
          <a:xfrm rot="0">
            <a:off x="16666443" y="656036"/>
            <a:ext cx="1241303" cy="575606"/>
            <a:chOff x="0" y="0"/>
            <a:chExt cx="326928" cy="151600"/>
          </a:xfrm>
        </p:grpSpPr>
        <p:sp>
          <p:nvSpPr>
            <p:cNvPr name="Freeform 9" id="9"/>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0" id="10"/>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1" id="11"/>
          <p:cNvSpPr/>
          <p:nvPr/>
        </p:nvSpPr>
        <p:spPr>
          <a:xfrm flipH="false" flipV="false" rot="0">
            <a:off x="16942528" y="793769"/>
            <a:ext cx="633545" cy="300142"/>
          </a:xfrm>
          <a:custGeom>
            <a:avLst/>
            <a:gdLst/>
            <a:ahLst/>
            <a:cxnLst/>
            <a:rect r="r" b="b" t="t" l="l"/>
            <a:pathLst>
              <a:path h="300142" w="633545">
                <a:moveTo>
                  <a:pt x="0" y="0"/>
                </a:moveTo>
                <a:lnTo>
                  <a:pt x="633544" y="0"/>
                </a:lnTo>
                <a:lnTo>
                  <a:pt x="633544"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298495" y="392053"/>
            <a:ext cx="9904677" cy="7848176"/>
          </a:xfrm>
          <a:prstGeom prst="rect">
            <a:avLst/>
          </a:prstGeom>
        </p:spPr>
        <p:txBody>
          <a:bodyPr anchor="t" rtlCol="false" tIns="0" lIns="0" bIns="0" rIns="0">
            <a:spAutoFit/>
          </a:bodyPr>
          <a:lstStyle/>
          <a:p>
            <a:pPr algn="l">
              <a:lnSpc>
                <a:spcPts val="4690"/>
              </a:lnSpc>
            </a:pPr>
            <a:r>
              <a:rPr lang="en-US" b="true" sz="3350" i="true">
                <a:solidFill>
                  <a:srgbClr val="000000"/>
                </a:solidFill>
                <a:latin typeface="Times New Roman Bold Italics"/>
                <a:ea typeface="Times New Roman Bold Italics"/>
                <a:cs typeface="Times New Roman Bold Italics"/>
                <a:sym typeface="Times New Roman Bold Italics"/>
              </a:rPr>
              <a:t>                                         AIMS AND OBJECTIVES</a:t>
            </a:r>
          </a:p>
          <a:p>
            <a:pPr algn="l">
              <a:lnSpc>
                <a:spcPts val="2865"/>
              </a:lnSpc>
            </a:pPr>
          </a:p>
          <a:p>
            <a:pPr algn="l">
              <a:lnSpc>
                <a:spcPts val="2019"/>
              </a:lnSpc>
            </a:pPr>
          </a:p>
          <a:p>
            <a:pPr algn="l">
              <a:lnSpc>
                <a:spcPts val="1719"/>
              </a:lnSpc>
            </a:pPr>
          </a:p>
          <a:p>
            <a:pPr algn="l">
              <a:lnSpc>
                <a:spcPts val="2865"/>
              </a:lnSpc>
            </a:pPr>
          </a:p>
          <a:p>
            <a:pPr algn="l">
              <a:lnSpc>
                <a:spcPts val="2865"/>
              </a:lnSpc>
            </a:pPr>
          </a:p>
          <a:p>
            <a:pPr algn="l">
              <a:lnSpc>
                <a:spcPts val="2865"/>
              </a:lnSpc>
            </a:pPr>
          </a:p>
          <a:p>
            <a:pPr algn="l">
              <a:lnSpc>
                <a:spcPts val="2292"/>
              </a:lnSpc>
            </a:pPr>
          </a:p>
          <a:p>
            <a:pPr algn="l">
              <a:lnSpc>
                <a:spcPts val="2292"/>
              </a:lnSpc>
            </a:pPr>
          </a:p>
          <a:p>
            <a:pPr algn="l">
              <a:lnSpc>
                <a:spcPts val="2292"/>
              </a:lnSpc>
            </a:pPr>
          </a:p>
          <a:p>
            <a:pPr algn="l">
              <a:lnSpc>
                <a:spcPts val="2865"/>
              </a:lnSpc>
            </a:pPr>
          </a:p>
          <a:p>
            <a:pPr algn="l">
              <a:lnSpc>
                <a:spcPts val="2865"/>
              </a:lnSpc>
            </a:pPr>
          </a:p>
          <a:p>
            <a:pPr algn="l">
              <a:lnSpc>
                <a:spcPts val="2865"/>
              </a:lnSpc>
            </a:pPr>
          </a:p>
          <a:p>
            <a:pPr algn="l">
              <a:lnSpc>
                <a:spcPts val="2865"/>
              </a:lnSpc>
            </a:pPr>
          </a:p>
          <a:p>
            <a:pPr algn="l">
              <a:lnSpc>
                <a:spcPts val="4265"/>
              </a:lnSpc>
            </a:pPr>
            <a:r>
              <a:rPr lang="en-US" b="true" sz="3047" i="true">
                <a:solidFill>
                  <a:srgbClr val="000000"/>
                </a:solidFill>
                <a:latin typeface="Times New Roman Bold Italics"/>
                <a:ea typeface="Times New Roman Bold Italics"/>
                <a:cs typeface="Times New Roman Bold Italics"/>
                <a:sym typeface="Times New Roman Bold Italics"/>
              </a:rPr>
              <a:t>    </a:t>
            </a:r>
          </a:p>
          <a:p>
            <a:pPr algn="l">
              <a:lnSpc>
                <a:spcPts val="4265"/>
              </a:lnSpc>
            </a:pPr>
          </a:p>
          <a:p>
            <a:pPr algn="l">
              <a:lnSpc>
                <a:spcPts val="4265"/>
              </a:lnSpc>
            </a:pPr>
          </a:p>
          <a:p>
            <a:pPr algn="l">
              <a:lnSpc>
                <a:spcPts val="4420"/>
              </a:lnSpc>
            </a:pPr>
          </a:p>
          <a:p>
            <a:pPr algn="l">
              <a:lnSpc>
                <a:spcPts val="6906"/>
              </a:lnSpc>
            </a:pPr>
          </a:p>
        </p:txBody>
      </p:sp>
      <p:sp>
        <p:nvSpPr>
          <p:cNvPr name="Freeform 13" id="13"/>
          <p:cNvSpPr/>
          <p:nvPr/>
        </p:nvSpPr>
        <p:spPr>
          <a:xfrm flipH="false" flipV="false" rot="0">
            <a:off x="262080" y="4111547"/>
            <a:ext cx="5378196" cy="5906689"/>
          </a:xfrm>
          <a:custGeom>
            <a:avLst/>
            <a:gdLst/>
            <a:ahLst/>
            <a:cxnLst/>
            <a:rect r="r" b="b" t="t" l="l"/>
            <a:pathLst>
              <a:path h="5906689" w="5378196">
                <a:moveTo>
                  <a:pt x="0" y="0"/>
                </a:moveTo>
                <a:lnTo>
                  <a:pt x="5378195" y="0"/>
                </a:lnTo>
                <a:lnTo>
                  <a:pt x="5378195" y="5906689"/>
                </a:lnTo>
                <a:lnTo>
                  <a:pt x="0" y="5906689"/>
                </a:lnTo>
                <a:lnTo>
                  <a:pt x="0" y="0"/>
                </a:lnTo>
                <a:close/>
              </a:path>
            </a:pathLst>
          </a:custGeom>
          <a:blipFill>
            <a:blip r:embed="rId4"/>
            <a:stretch>
              <a:fillRect l="0" t="0" r="0" b="0"/>
            </a:stretch>
          </a:blipFill>
        </p:spPr>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
        <p:nvSpPr>
          <p:cNvPr name="TextBox 15" id="15"/>
          <p:cNvSpPr txBox="true"/>
          <p:nvPr/>
        </p:nvSpPr>
        <p:spPr>
          <a:xfrm rot="0">
            <a:off x="262080" y="839065"/>
            <a:ext cx="18025920" cy="3061182"/>
          </a:xfrm>
          <a:prstGeom prst="rect">
            <a:avLst/>
          </a:prstGeom>
        </p:spPr>
        <p:txBody>
          <a:bodyPr anchor="t" rtlCol="false" tIns="0" lIns="0" bIns="0" rIns="0">
            <a:spAutoFit/>
          </a:bodyPr>
          <a:lstStyle/>
          <a:p>
            <a:pPr algn="just">
              <a:lnSpc>
                <a:spcPts val="3998"/>
              </a:lnSpc>
            </a:pPr>
            <a:r>
              <a:rPr lang="en-US" sz="2856" b="true">
                <a:solidFill>
                  <a:srgbClr val="000000"/>
                </a:solidFill>
                <a:latin typeface="Times New Roman Bold"/>
                <a:ea typeface="Times New Roman Bold"/>
                <a:cs typeface="Times New Roman Bold"/>
                <a:sym typeface="Times New Roman Bold"/>
              </a:rPr>
              <a:t>AIM:</a:t>
            </a:r>
          </a:p>
          <a:p>
            <a:pPr algn="l">
              <a:lnSpc>
                <a:spcPts val="3998"/>
              </a:lnSpc>
            </a:pPr>
            <a:r>
              <a:rPr lang="en-US" sz="2856">
                <a:solidFill>
                  <a:srgbClr val="000000"/>
                </a:solidFill>
                <a:latin typeface="Times New Roman"/>
                <a:ea typeface="Times New Roman"/>
                <a:cs typeface="Times New Roman"/>
                <a:sym typeface="Times New Roman"/>
              </a:rPr>
              <a:t>This project aims to create an Interactive Smart Mirror for daily productivity. </a:t>
            </a:r>
          </a:p>
          <a:p>
            <a:pPr algn="l">
              <a:lnSpc>
                <a:spcPts val="3998"/>
              </a:lnSpc>
            </a:pPr>
            <a:r>
              <a:rPr lang="en-US" sz="2856">
                <a:solidFill>
                  <a:srgbClr val="000000"/>
                </a:solidFill>
                <a:latin typeface="Times New Roman"/>
                <a:ea typeface="Times New Roman"/>
                <a:cs typeface="Times New Roman"/>
                <a:sym typeface="Times New Roman"/>
              </a:rPr>
              <a:t>It will be easy to use, especially for people with disabilities, with all essential tools in a touchless design, The project also includes developing an Android app.</a:t>
            </a:r>
          </a:p>
          <a:p>
            <a:pPr algn="l">
              <a:lnSpc>
                <a:spcPts val="3998"/>
              </a:lnSpc>
            </a:pPr>
          </a:p>
          <a:p>
            <a:pPr algn="l">
              <a:lnSpc>
                <a:spcPts val="3998"/>
              </a:lnSpc>
            </a:pPr>
            <a:r>
              <a:rPr lang="en-US" sz="2856" b="true">
                <a:solidFill>
                  <a:srgbClr val="000000"/>
                </a:solidFill>
                <a:latin typeface="Times New Roman Bold"/>
                <a:ea typeface="Times New Roman Bold"/>
                <a:cs typeface="Times New Roman Bold"/>
                <a:sym typeface="Times New Roman Bold"/>
              </a:rPr>
              <a:t>The Project objectives are as following table: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17213342" y="2701178"/>
            <a:ext cx="4758515" cy="47585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8" id="8"/>
          <p:cNvGrpSpPr/>
          <p:nvPr/>
        </p:nvGrpSpPr>
        <p:grpSpPr>
          <a:xfrm rot="0">
            <a:off x="16666443" y="656036"/>
            <a:ext cx="1241303" cy="575606"/>
            <a:chOff x="0" y="0"/>
            <a:chExt cx="326928" cy="151600"/>
          </a:xfrm>
        </p:grpSpPr>
        <p:sp>
          <p:nvSpPr>
            <p:cNvPr name="Freeform 9" id="9"/>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0" id="10"/>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1" id="11"/>
          <p:cNvSpPr/>
          <p:nvPr/>
        </p:nvSpPr>
        <p:spPr>
          <a:xfrm flipH="false" flipV="false" rot="0">
            <a:off x="16942528" y="793769"/>
            <a:ext cx="633545" cy="300142"/>
          </a:xfrm>
          <a:custGeom>
            <a:avLst/>
            <a:gdLst/>
            <a:ahLst/>
            <a:cxnLst/>
            <a:rect r="r" b="b" t="t" l="l"/>
            <a:pathLst>
              <a:path h="300142" w="633545">
                <a:moveTo>
                  <a:pt x="0" y="0"/>
                </a:moveTo>
                <a:lnTo>
                  <a:pt x="633544" y="0"/>
                </a:lnTo>
                <a:lnTo>
                  <a:pt x="633544"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0" y="0"/>
            <a:ext cx="1028700" cy="10287000"/>
            <a:chOff x="0" y="0"/>
            <a:chExt cx="270933" cy="2709333"/>
          </a:xfrm>
        </p:grpSpPr>
        <p:sp>
          <p:nvSpPr>
            <p:cNvPr name="Freeform 13" id="13"/>
            <p:cNvSpPr/>
            <p:nvPr/>
          </p:nvSpPr>
          <p:spPr>
            <a:xfrm flipH="false" flipV="false" rot="0">
              <a:off x="0" y="0"/>
              <a:ext cx="270933" cy="2709333"/>
            </a:xfrm>
            <a:custGeom>
              <a:avLst/>
              <a:gdLst/>
              <a:ahLst/>
              <a:cxnLst/>
              <a:rect r="r" b="b" t="t" l="l"/>
              <a:pathLst>
                <a:path h="2709333" w="270933">
                  <a:moveTo>
                    <a:pt x="0" y="0"/>
                  </a:moveTo>
                  <a:lnTo>
                    <a:pt x="270933" y="0"/>
                  </a:lnTo>
                  <a:lnTo>
                    <a:pt x="270933" y="2709333"/>
                  </a:lnTo>
                  <a:lnTo>
                    <a:pt x="0" y="2709333"/>
                  </a:lnTo>
                  <a:close/>
                </a:path>
              </a:pathLst>
            </a:custGeom>
            <a:solidFill>
              <a:srgbClr val="875A7A"/>
            </a:solidFill>
          </p:spPr>
        </p:sp>
        <p:sp>
          <p:nvSpPr>
            <p:cNvPr name="TextBox 14" id="14"/>
            <p:cNvSpPr txBox="true"/>
            <p:nvPr/>
          </p:nvSpPr>
          <p:spPr>
            <a:xfrm>
              <a:off x="0" y="-85725"/>
              <a:ext cx="270933" cy="2795058"/>
            </a:xfrm>
            <a:prstGeom prst="rect">
              <a:avLst/>
            </a:prstGeom>
          </p:spPr>
          <p:txBody>
            <a:bodyPr anchor="ctr" rtlCol="false" tIns="50800" lIns="50800" bIns="50800" rIns="50800"/>
            <a:lstStyle/>
            <a:p>
              <a:pPr algn="ctr">
                <a:lnSpc>
                  <a:spcPts val="2479"/>
                </a:lnSpc>
              </a:pPr>
            </a:p>
          </p:txBody>
        </p:sp>
      </p:grpSp>
      <p:sp>
        <p:nvSpPr>
          <p:cNvPr name="Freeform 15" id="15"/>
          <p:cNvSpPr/>
          <p:nvPr/>
        </p:nvSpPr>
        <p:spPr>
          <a:xfrm flipH="false" flipV="false" rot="0">
            <a:off x="4492532" y="1408113"/>
            <a:ext cx="10162498" cy="8790561"/>
          </a:xfrm>
          <a:custGeom>
            <a:avLst/>
            <a:gdLst/>
            <a:ahLst/>
            <a:cxnLst/>
            <a:rect r="r" b="b" t="t" l="l"/>
            <a:pathLst>
              <a:path h="8790561" w="10162498">
                <a:moveTo>
                  <a:pt x="0" y="0"/>
                </a:moveTo>
                <a:lnTo>
                  <a:pt x="10162498" y="0"/>
                </a:lnTo>
                <a:lnTo>
                  <a:pt x="10162498" y="8790561"/>
                </a:lnTo>
                <a:lnTo>
                  <a:pt x="0" y="8790561"/>
                </a:lnTo>
                <a:lnTo>
                  <a:pt x="0" y="0"/>
                </a:lnTo>
                <a:close/>
              </a:path>
            </a:pathLst>
          </a:custGeom>
          <a:blipFill>
            <a:blip r:embed="rId4"/>
            <a:stretch>
              <a:fillRect l="0" t="0" r="0" b="0"/>
            </a:stretch>
          </a:blipFill>
        </p:spPr>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
        <p:nvSpPr>
          <p:cNvPr name="TextBox 17" id="17"/>
          <p:cNvSpPr txBox="true"/>
          <p:nvPr/>
        </p:nvSpPr>
        <p:spPr>
          <a:xfrm rot="0">
            <a:off x="1078223" y="449263"/>
            <a:ext cx="5013945" cy="958850"/>
          </a:xfrm>
          <a:prstGeom prst="rect">
            <a:avLst/>
          </a:prstGeom>
        </p:spPr>
        <p:txBody>
          <a:bodyPr anchor="t" rtlCol="false" tIns="0" lIns="0" bIns="0" rIns="0">
            <a:spAutoFit/>
          </a:bodyPr>
          <a:lstStyle/>
          <a:p>
            <a:pPr algn="ctr">
              <a:lnSpc>
                <a:spcPts val="7000"/>
              </a:lnSpc>
            </a:pPr>
            <a:r>
              <a:rPr lang="en-US" sz="5000" b="true">
                <a:solidFill>
                  <a:srgbClr val="000000"/>
                </a:solidFill>
                <a:latin typeface="Times New Roman Bold"/>
                <a:ea typeface="Times New Roman Bold"/>
                <a:cs typeface="Times New Roman Bold"/>
                <a:sym typeface="Times New Roman Bold"/>
              </a:rPr>
              <a:t> </a:t>
            </a:r>
            <a:r>
              <a:rPr lang="en-US" sz="5000" b="true">
                <a:solidFill>
                  <a:srgbClr val="000000"/>
                </a:solidFill>
                <a:latin typeface="Times New Roman Bold"/>
                <a:ea typeface="Times New Roman Bold"/>
                <a:cs typeface="Times New Roman Bold"/>
                <a:sym typeface="Times New Roman Bold"/>
              </a:rPr>
              <a:t>Use-Case diagram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17213342" y="2701178"/>
            <a:ext cx="4758515" cy="47585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8" id="8"/>
          <p:cNvGrpSpPr/>
          <p:nvPr/>
        </p:nvGrpSpPr>
        <p:grpSpPr>
          <a:xfrm rot="0">
            <a:off x="16666443" y="656036"/>
            <a:ext cx="1241303" cy="575606"/>
            <a:chOff x="0" y="0"/>
            <a:chExt cx="326928" cy="151600"/>
          </a:xfrm>
        </p:grpSpPr>
        <p:sp>
          <p:nvSpPr>
            <p:cNvPr name="Freeform 9" id="9"/>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0" id="10"/>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1" id="11"/>
          <p:cNvSpPr/>
          <p:nvPr/>
        </p:nvSpPr>
        <p:spPr>
          <a:xfrm flipH="false" flipV="false" rot="0">
            <a:off x="16942528" y="793769"/>
            <a:ext cx="633545" cy="300142"/>
          </a:xfrm>
          <a:custGeom>
            <a:avLst/>
            <a:gdLst/>
            <a:ahLst/>
            <a:cxnLst/>
            <a:rect r="r" b="b" t="t" l="l"/>
            <a:pathLst>
              <a:path h="300142" w="633545">
                <a:moveTo>
                  <a:pt x="0" y="0"/>
                </a:moveTo>
                <a:lnTo>
                  <a:pt x="633544" y="0"/>
                </a:lnTo>
                <a:lnTo>
                  <a:pt x="633544"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643553" y="262104"/>
            <a:ext cx="15569790" cy="9781136"/>
          </a:xfrm>
          <a:prstGeom prst="rect">
            <a:avLst/>
          </a:prstGeom>
        </p:spPr>
        <p:txBody>
          <a:bodyPr anchor="t" rtlCol="false" tIns="0" lIns="0" bIns="0" rIns="0">
            <a:spAutoFit/>
          </a:bodyPr>
          <a:lstStyle/>
          <a:p>
            <a:pPr algn="just">
              <a:lnSpc>
                <a:spcPts val="4612"/>
              </a:lnSpc>
            </a:pPr>
          </a:p>
          <a:p>
            <a:pPr algn="l">
              <a:lnSpc>
                <a:spcPts val="4192"/>
              </a:lnSpc>
            </a:pPr>
          </a:p>
          <a:p>
            <a:pPr algn="l">
              <a:lnSpc>
                <a:spcPts val="4192"/>
              </a:lnSpc>
            </a:pPr>
          </a:p>
          <a:p>
            <a:pPr algn="l">
              <a:lnSpc>
                <a:spcPts val="4232"/>
              </a:lnSpc>
            </a:pPr>
            <a:r>
              <a:rPr lang="en-US" sz="3023" b="true">
                <a:solidFill>
                  <a:srgbClr val="000000"/>
                </a:solidFill>
                <a:latin typeface="Times New Roman Bold"/>
                <a:ea typeface="Times New Roman Bold"/>
                <a:cs typeface="Times New Roman Bold"/>
                <a:sym typeface="Times New Roman Bold"/>
              </a:rPr>
              <a:t> </a:t>
            </a:r>
          </a:p>
          <a:p>
            <a:pPr algn="l">
              <a:lnSpc>
                <a:spcPts val="4232"/>
              </a:lnSpc>
            </a:pPr>
          </a:p>
          <a:p>
            <a:pPr algn="l">
              <a:lnSpc>
                <a:spcPts val="3385"/>
              </a:lnSpc>
            </a:pPr>
          </a:p>
          <a:p>
            <a:pPr algn="l">
              <a:lnSpc>
                <a:spcPts val="4232"/>
              </a:lnSpc>
            </a:pPr>
          </a:p>
          <a:p>
            <a:pPr algn="l">
              <a:lnSpc>
                <a:spcPts val="4232"/>
              </a:lnSpc>
            </a:pPr>
          </a:p>
          <a:p>
            <a:pPr algn="l">
              <a:lnSpc>
                <a:spcPts val="4232"/>
              </a:lnSpc>
            </a:pPr>
          </a:p>
          <a:p>
            <a:pPr algn="l">
              <a:lnSpc>
                <a:spcPts val="4232"/>
              </a:lnSpc>
            </a:pPr>
          </a:p>
          <a:p>
            <a:pPr algn="l">
              <a:lnSpc>
                <a:spcPts val="6301"/>
              </a:lnSpc>
            </a:pPr>
            <a:r>
              <a:rPr lang="en-US" b="true" sz="4501" i="true">
                <a:solidFill>
                  <a:srgbClr val="000000"/>
                </a:solidFill>
                <a:latin typeface="Times New Roman Bold Italics"/>
                <a:ea typeface="Times New Roman Bold Italics"/>
                <a:cs typeface="Times New Roman Bold Italics"/>
                <a:sym typeface="Times New Roman Bold Italics"/>
              </a:rPr>
              <a:t>    </a:t>
            </a:r>
          </a:p>
          <a:p>
            <a:pPr algn="l">
              <a:lnSpc>
                <a:spcPts val="6301"/>
              </a:lnSpc>
            </a:pPr>
          </a:p>
          <a:p>
            <a:pPr algn="l">
              <a:lnSpc>
                <a:spcPts val="6301"/>
              </a:lnSpc>
            </a:pPr>
          </a:p>
          <a:p>
            <a:pPr algn="l">
              <a:lnSpc>
                <a:spcPts val="6529"/>
              </a:lnSpc>
            </a:pPr>
          </a:p>
          <a:p>
            <a:pPr algn="l">
              <a:lnSpc>
                <a:spcPts val="10202"/>
              </a:lnSpc>
            </a:pPr>
          </a:p>
        </p:txBody>
      </p:sp>
      <p:grpSp>
        <p:nvGrpSpPr>
          <p:cNvPr name="Group 13" id="13"/>
          <p:cNvGrpSpPr/>
          <p:nvPr/>
        </p:nvGrpSpPr>
        <p:grpSpPr>
          <a:xfrm rot="0">
            <a:off x="0" y="0"/>
            <a:ext cx="1028700" cy="10287000"/>
            <a:chOff x="0" y="0"/>
            <a:chExt cx="270933" cy="2709333"/>
          </a:xfrm>
        </p:grpSpPr>
        <p:sp>
          <p:nvSpPr>
            <p:cNvPr name="Freeform 14" id="14"/>
            <p:cNvSpPr/>
            <p:nvPr/>
          </p:nvSpPr>
          <p:spPr>
            <a:xfrm flipH="false" flipV="false" rot="0">
              <a:off x="0" y="0"/>
              <a:ext cx="270933" cy="2709333"/>
            </a:xfrm>
            <a:custGeom>
              <a:avLst/>
              <a:gdLst/>
              <a:ahLst/>
              <a:cxnLst/>
              <a:rect r="r" b="b" t="t" l="l"/>
              <a:pathLst>
                <a:path h="2709333" w="270933">
                  <a:moveTo>
                    <a:pt x="0" y="0"/>
                  </a:moveTo>
                  <a:lnTo>
                    <a:pt x="270933" y="0"/>
                  </a:lnTo>
                  <a:lnTo>
                    <a:pt x="270933" y="2709333"/>
                  </a:lnTo>
                  <a:lnTo>
                    <a:pt x="0" y="2709333"/>
                  </a:lnTo>
                  <a:close/>
                </a:path>
              </a:pathLst>
            </a:custGeom>
            <a:solidFill>
              <a:srgbClr val="875A7A"/>
            </a:solidFill>
          </p:spPr>
        </p:sp>
        <p:sp>
          <p:nvSpPr>
            <p:cNvPr name="TextBox 15" id="15"/>
            <p:cNvSpPr txBox="true"/>
            <p:nvPr/>
          </p:nvSpPr>
          <p:spPr>
            <a:xfrm>
              <a:off x="0" y="-85725"/>
              <a:ext cx="270933" cy="2795058"/>
            </a:xfrm>
            <a:prstGeom prst="rect">
              <a:avLst/>
            </a:prstGeom>
          </p:spPr>
          <p:txBody>
            <a:bodyPr anchor="ctr" rtlCol="false" tIns="50800" lIns="50800" bIns="50800" rIns="50800"/>
            <a:lstStyle/>
            <a:p>
              <a:pPr algn="ctr">
                <a:lnSpc>
                  <a:spcPts val="2479"/>
                </a:lnSpc>
              </a:pPr>
            </a:p>
          </p:txBody>
        </p:sp>
      </p:grpSp>
      <p:sp>
        <p:nvSpPr>
          <p:cNvPr name="Freeform 16" id="16"/>
          <p:cNvSpPr/>
          <p:nvPr/>
        </p:nvSpPr>
        <p:spPr>
          <a:xfrm flipH="false" flipV="false" rot="0">
            <a:off x="2289473" y="1890103"/>
            <a:ext cx="14376970" cy="7368197"/>
          </a:xfrm>
          <a:custGeom>
            <a:avLst/>
            <a:gdLst/>
            <a:ahLst/>
            <a:cxnLst/>
            <a:rect r="r" b="b" t="t" l="l"/>
            <a:pathLst>
              <a:path h="7368197" w="14376970">
                <a:moveTo>
                  <a:pt x="0" y="0"/>
                </a:moveTo>
                <a:lnTo>
                  <a:pt x="14376970" y="0"/>
                </a:lnTo>
                <a:lnTo>
                  <a:pt x="14376970" y="7368197"/>
                </a:lnTo>
                <a:lnTo>
                  <a:pt x="0" y="7368197"/>
                </a:lnTo>
                <a:lnTo>
                  <a:pt x="0" y="0"/>
                </a:lnTo>
                <a:close/>
              </a:path>
            </a:pathLst>
          </a:custGeom>
          <a:blipFill>
            <a:blip r:embed="rId4"/>
            <a:stretch>
              <a:fillRect l="0" t="0" r="0" b="0"/>
            </a:stretch>
          </a:blipFill>
        </p:spPr>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
        <p:nvSpPr>
          <p:cNvPr name="TextBox 18" id="18"/>
          <p:cNvSpPr txBox="true"/>
          <p:nvPr/>
        </p:nvSpPr>
        <p:spPr>
          <a:xfrm rot="0">
            <a:off x="2623112" y="828675"/>
            <a:ext cx="4268544" cy="991870"/>
          </a:xfrm>
          <a:prstGeom prst="rect">
            <a:avLst/>
          </a:prstGeom>
        </p:spPr>
        <p:txBody>
          <a:bodyPr anchor="t" rtlCol="false" tIns="0" lIns="0" bIns="0" rIns="0">
            <a:spAutoFit/>
          </a:bodyPr>
          <a:lstStyle/>
          <a:p>
            <a:pPr algn="ctr">
              <a:lnSpc>
                <a:spcPts val="7279"/>
              </a:lnSpc>
            </a:pPr>
            <a:r>
              <a:rPr lang="en-US" sz="5199" b="true">
                <a:solidFill>
                  <a:srgbClr val="000000"/>
                </a:solidFill>
                <a:latin typeface="Times New Roman Bold"/>
                <a:ea typeface="Times New Roman Bold"/>
                <a:cs typeface="Times New Roman Bold"/>
                <a:sym typeface="Times New Roman Bold"/>
              </a:rPr>
              <a:t> </a:t>
            </a:r>
            <a:r>
              <a:rPr lang="en-US" sz="5199" b="true">
                <a:solidFill>
                  <a:srgbClr val="000000"/>
                </a:solidFill>
                <a:latin typeface="Times New Roman Bold"/>
                <a:ea typeface="Times New Roman Bold"/>
                <a:cs typeface="Times New Roman Bold"/>
                <a:sym typeface="Times New Roman Bold"/>
              </a:rPr>
              <a:t>Class diagram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17213342" y="2701178"/>
            <a:ext cx="4758515" cy="47585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8" id="8"/>
          <p:cNvGrpSpPr/>
          <p:nvPr/>
        </p:nvGrpSpPr>
        <p:grpSpPr>
          <a:xfrm rot="0">
            <a:off x="16666443" y="656036"/>
            <a:ext cx="1241303" cy="575606"/>
            <a:chOff x="0" y="0"/>
            <a:chExt cx="326928" cy="151600"/>
          </a:xfrm>
        </p:grpSpPr>
        <p:sp>
          <p:nvSpPr>
            <p:cNvPr name="Freeform 9" id="9"/>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0" id="10"/>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1" id="11"/>
          <p:cNvSpPr/>
          <p:nvPr/>
        </p:nvSpPr>
        <p:spPr>
          <a:xfrm flipH="false" flipV="false" rot="0">
            <a:off x="16942528" y="793769"/>
            <a:ext cx="633545" cy="300142"/>
          </a:xfrm>
          <a:custGeom>
            <a:avLst/>
            <a:gdLst/>
            <a:ahLst/>
            <a:cxnLst/>
            <a:rect r="r" b="b" t="t" l="l"/>
            <a:pathLst>
              <a:path h="300142" w="633545">
                <a:moveTo>
                  <a:pt x="0" y="0"/>
                </a:moveTo>
                <a:lnTo>
                  <a:pt x="633544" y="0"/>
                </a:lnTo>
                <a:lnTo>
                  <a:pt x="633544"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0" y="0"/>
            <a:ext cx="1028700" cy="10287000"/>
            <a:chOff x="0" y="0"/>
            <a:chExt cx="270933" cy="2709333"/>
          </a:xfrm>
        </p:grpSpPr>
        <p:sp>
          <p:nvSpPr>
            <p:cNvPr name="Freeform 13" id="13"/>
            <p:cNvSpPr/>
            <p:nvPr/>
          </p:nvSpPr>
          <p:spPr>
            <a:xfrm flipH="false" flipV="false" rot="0">
              <a:off x="0" y="0"/>
              <a:ext cx="270933" cy="2709333"/>
            </a:xfrm>
            <a:custGeom>
              <a:avLst/>
              <a:gdLst/>
              <a:ahLst/>
              <a:cxnLst/>
              <a:rect r="r" b="b" t="t" l="l"/>
              <a:pathLst>
                <a:path h="2709333" w="270933">
                  <a:moveTo>
                    <a:pt x="0" y="0"/>
                  </a:moveTo>
                  <a:lnTo>
                    <a:pt x="270933" y="0"/>
                  </a:lnTo>
                  <a:lnTo>
                    <a:pt x="270933" y="2709333"/>
                  </a:lnTo>
                  <a:lnTo>
                    <a:pt x="0" y="2709333"/>
                  </a:lnTo>
                  <a:close/>
                </a:path>
              </a:pathLst>
            </a:custGeom>
            <a:solidFill>
              <a:srgbClr val="875A7A"/>
            </a:solidFill>
          </p:spPr>
        </p:sp>
        <p:sp>
          <p:nvSpPr>
            <p:cNvPr name="TextBox 14" id="14"/>
            <p:cNvSpPr txBox="true"/>
            <p:nvPr/>
          </p:nvSpPr>
          <p:spPr>
            <a:xfrm>
              <a:off x="0" y="-85725"/>
              <a:ext cx="270933" cy="2795058"/>
            </a:xfrm>
            <a:prstGeom prst="rect">
              <a:avLst/>
            </a:prstGeom>
          </p:spPr>
          <p:txBody>
            <a:bodyPr anchor="ctr" rtlCol="false" tIns="50800" lIns="50800" bIns="50800" rIns="50800"/>
            <a:lstStyle/>
            <a:p>
              <a:pPr algn="ctr">
                <a:lnSpc>
                  <a:spcPts val="2479"/>
                </a:lnSpc>
              </a:pPr>
            </a:p>
          </p:txBody>
        </p:sp>
      </p:grpSp>
      <p:sp>
        <p:nvSpPr>
          <p:cNvPr name="Freeform 15" id="15"/>
          <p:cNvSpPr/>
          <p:nvPr/>
        </p:nvSpPr>
        <p:spPr>
          <a:xfrm flipH="false" flipV="false" rot="0">
            <a:off x="10320403" y="2454958"/>
            <a:ext cx="7587344" cy="6391141"/>
          </a:xfrm>
          <a:custGeom>
            <a:avLst/>
            <a:gdLst/>
            <a:ahLst/>
            <a:cxnLst/>
            <a:rect r="r" b="b" t="t" l="l"/>
            <a:pathLst>
              <a:path h="6391141" w="7587344">
                <a:moveTo>
                  <a:pt x="0" y="0"/>
                </a:moveTo>
                <a:lnTo>
                  <a:pt x="7587343" y="0"/>
                </a:lnTo>
                <a:lnTo>
                  <a:pt x="7587343" y="6391141"/>
                </a:lnTo>
                <a:lnTo>
                  <a:pt x="0" y="6391141"/>
                </a:lnTo>
                <a:lnTo>
                  <a:pt x="0" y="0"/>
                </a:lnTo>
                <a:close/>
              </a:path>
            </a:pathLst>
          </a:custGeom>
          <a:blipFill>
            <a:blip r:embed="rId4"/>
            <a:stretch>
              <a:fillRect l="0" t="0" r="0" b="0"/>
            </a:stretch>
          </a:blipFill>
        </p:spPr>
      </p:sp>
      <p:sp>
        <p:nvSpPr>
          <p:cNvPr name="Freeform 16" id="16"/>
          <p:cNvSpPr/>
          <p:nvPr/>
        </p:nvSpPr>
        <p:spPr>
          <a:xfrm flipH="false" flipV="false" rot="0">
            <a:off x="1361213" y="3089395"/>
            <a:ext cx="8033617" cy="5547340"/>
          </a:xfrm>
          <a:custGeom>
            <a:avLst/>
            <a:gdLst/>
            <a:ahLst/>
            <a:cxnLst/>
            <a:rect r="r" b="b" t="t" l="l"/>
            <a:pathLst>
              <a:path h="5547340" w="8033617">
                <a:moveTo>
                  <a:pt x="0" y="0"/>
                </a:moveTo>
                <a:lnTo>
                  <a:pt x="8033618" y="0"/>
                </a:lnTo>
                <a:lnTo>
                  <a:pt x="8033618" y="5547340"/>
                </a:lnTo>
                <a:lnTo>
                  <a:pt x="0" y="5547340"/>
                </a:lnTo>
                <a:lnTo>
                  <a:pt x="0" y="0"/>
                </a:lnTo>
                <a:close/>
              </a:path>
            </a:pathLst>
          </a:custGeom>
          <a:blipFill>
            <a:blip r:embed="rId5"/>
            <a:stretch>
              <a:fillRect l="0" t="0" r="0" b="0"/>
            </a:stretch>
          </a:blipFill>
        </p:spPr>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
        <p:nvSpPr>
          <p:cNvPr name="TextBox 18" id="18"/>
          <p:cNvSpPr txBox="true"/>
          <p:nvPr/>
        </p:nvSpPr>
        <p:spPr>
          <a:xfrm rot="0">
            <a:off x="1361213" y="1228104"/>
            <a:ext cx="5538167" cy="991870"/>
          </a:xfrm>
          <a:prstGeom prst="rect">
            <a:avLst/>
          </a:prstGeom>
        </p:spPr>
        <p:txBody>
          <a:bodyPr anchor="t" rtlCol="false" tIns="0" lIns="0" bIns="0" rIns="0">
            <a:spAutoFit/>
          </a:bodyPr>
          <a:lstStyle/>
          <a:p>
            <a:pPr algn="ctr">
              <a:lnSpc>
                <a:spcPts val="7279"/>
              </a:lnSpc>
            </a:pPr>
            <a:r>
              <a:rPr lang="en-US" sz="5199" b="true">
                <a:solidFill>
                  <a:srgbClr val="000000"/>
                </a:solidFill>
                <a:latin typeface="Times New Roman Bold"/>
                <a:ea typeface="Times New Roman Bold"/>
                <a:cs typeface="Times New Roman Bold"/>
                <a:sym typeface="Times New Roman Bold"/>
              </a:rPr>
              <a:t> </a:t>
            </a:r>
            <a:r>
              <a:rPr lang="en-US" sz="5199" b="true">
                <a:solidFill>
                  <a:srgbClr val="000000"/>
                </a:solidFill>
                <a:latin typeface="Times New Roman Bold"/>
                <a:ea typeface="Times New Roman Bold"/>
                <a:cs typeface="Times New Roman Bold"/>
                <a:sym typeface="Times New Roman Bold"/>
              </a:rPr>
              <a:t>Sequence diagrams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17213342" y="2701178"/>
            <a:ext cx="4758515" cy="47585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8" id="8"/>
          <p:cNvGrpSpPr/>
          <p:nvPr/>
        </p:nvGrpSpPr>
        <p:grpSpPr>
          <a:xfrm rot="0">
            <a:off x="16666443" y="656036"/>
            <a:ext cx="1241303" cy="575606"/>
            <a:chOff x="0" y="0"/>
            <a:chExt cx="326928" cy="151600"/>
          </a:xfrm>
        </p:grpSpPr>
        <p:sp>
          <p:nvSpPr>
            <p:cNvPr name="Freeform 9" id="9"/>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0" id="10"/>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1" id="11"/>
          <p:cNvSpPr/>
          <p:nvPr/>
        </p:nvSpPr>
        <p:spPr>
          <a:xfrm flipH="false" flipV="false" rot="0">
            <a:off x="16942528" y="793769"/>
            <a:ext cx="633545" cy="300142"/>
          </a:xfrm>
          <a:custGeom>
            <a:avLst/>
            <a:gdLst/>
            <a:ahLst/>
            <a:cxnLst/>
            <a:rect r="r" b="b" t="t" l="l"/>
            <a:pathLst>
              <a:path h="300142" w="633545">
                <a:moveTo>
                  <a:pt x="0" y="0"/>
                </a:moveTo>
                <a:lnTo>
                  <a:pt x="633544" y="0"/>
                </a:lnTo>
                <a:lnTo>
                  <a:pt x="633544"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0" y="0"/>
            <a:ext cx="1028700" cy="10287000"/>
            <a:chOff x="0" y="0"/>
            <a:chExt cx="270933" cy="2709333"/>
          </a:xfrm>
        </p:grpSpPr>
        <p:sp>
          <p:nvSpPr>
            <p:cNvPr name="Freeform 13" id="13"/>
            <p:cNvSpPr/>
            <p:nvPr/>
          </p:nvSpPr>
          <p:spPr>
            <a:xfrm flipH="false" flipV="false" rot="0">
              <a:off x="0" y="0"/>
              <a:ext cx="270933" cy="2709333"/>
            </a:xfrm>
            <a:custGeom>
              <a:avLst/>
              <a:gdLst/>
              <a:ahLst/>
              <a:cxnLst/>
              <a:rect r="r" b="b" t="t" l="l"/>
              <a:pathLst>
                <a:path h="2709333" w="270933">
                  <a:moveTo>
                    <a:pt x="0" y="0"/>
                  </a:moveTo>
                  <a:lnTo>
                    <a:pt x="270933" y="0"/>
                  </a:lnTo>
                  <a:lnTo>
                    <a:pt x="270933" y="2709333"/>
                  </a:lnTo>
                  <a:lnTo>
                    <a:pt x="0" y="2709333"/>
                  </a:lnTo>
                  <a:close/>
                </a:path>
              </a:pathLst>
            </a:custGeom>
            <a:solidFill>
              <a:srgbClr val="875A7A"/>
            </a:solidFill>
          </p:spPr>
        </p:sp>
        <p:sp>
          <p:nvSpPr>
            <p:cNvPr name="TextBox 14" id="14"/>
            <p:cNvSpPr txBox="true"/>
            <p:nvPr/>
          </p:nvSpPr>
          <p:spPr>
            <a:xfrm>
              <a:off x="0" y="-85725"/>
              <a:ext cx="270933" cy="2795058"/>
            </a:xfrm>
            <a:prstGeom prst="rect">
              <a:avLst/>
            </a:prstGeom>
          </p:spPr>
          <p:txBody>
            <a:bodyPr anchor="ctr" rtlCol="false" tIns="50800" lIns="50800" bIns="50800" rIns="50800"/>
            <a:lstStyle/>
            <a:p>
              <a:pPr algn="ctr">
                <a:lnSpc>
                  <a:spcPts val="2479"/>
                </a:lnSpc>
              </a:pPr>
            </a:p>
          </p:txBody>
        </p:sp>
      </p:grpSp>
      <p:sp>
        <p:nvSpPr>
          <p:cNvPr name="Freeform 15" id="15"/>
          <p:cNvSpPr/>
          <p:nvPr/>
        </p:nvSpPr>
        <p:spPr>
          <a:xfrm flipH="false" flipV="false" rot="0">
            <a:off x="5438726" y="2457742"/>
            <a:ext cx="7938424" cy="5904527"/>
          </a:xfrm>
          <a:custGeom>
            <a:avLst/>
            <a:gdLst/>
            <a:ahLst/>
            <a:cxnLst/>
            <a:rect r="r" b="b" t="t" l="l"/>
            <a:pathLst>
              <a:path h="5904527" w="7938424">
                <a:moveTo>
                  <a:pt x="0" y="0"/>
                </a:moveTo>
                <a:lnTo>
                  <a:pt x="7938424" y="0"/>
                </a:lnTo>
                <a:lnTo>
                  <a:pt x="7938424" y="5904527"/>
                </a:lnTo>
                <a:lnTo>
                  <a:pt x="0" y="5904527"/>
                </a:lnTo>
                <a:lnTo>
                  <a:pt x="0" y="0"/>
                </a:lnTo>
                <a:close/>
              </a:path>
            </a:pathLst>
          </a:custGeom>
          <a:blipFill>
            <a:blip r:embed="rId4"/>
            <a:stretch>
              <a:fillRect l="0" t="0" r="0" b="0"/>
            </a:stretch>
          </a:blipFill>
        </p:spPr>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
        <p:nvSpPr>
          <p:cNvPr name="TextBox 17" id="17"/>
          <p:cNvSpPr txBox="true"/>
          <p:nvPr/>
        </p:nvSpPr>
        <p:spPr>
          <a:xfrm rot="0">
            <a:off x="1498557" y="1031618"/>
            <a:ext cx="5576792" cy="975360"/>
          </a:xfrm>
          <a:prstGeom prst="rect">
            <a:avLst/>
          </a:prstGeom>
        </p:spPr>
        <p:txBody>
          <a:bodyPr anchor="t" rtlCol="false" tIns="0" lIns="0" bIns="0" rIns="0">
            <a:spAutoFit/>
          </a:bodyPr>
          <a:lstStyle/>
          <a:p>
            <a:pPr algn="ctr">
              <a:lnSpc>
                <a:spcPts val="7139"/>
              </a:lnSpc>
            </a:pPr>
            <a:r>
              <a:rPr lang="en-US" sz="5100" b="true">
                <a:solidFill>
                  <a:srgbClr val="000000"/>
                </a:solidFill>
                <a:latin typeface="Times New Roman Bold"/>
                <a:ea typeface="Times New Roman Bold"/>
                <a:cs typeface="Times New Roman Bold"/>
                <a:sym typeface="Times New Roman Bold"/>
              </a:rPr>
              <a:t> </a:t>
            </a:r>
            <a:r>
              <a:rPr lang="en-US" sz="5100" b="true">
                <a:solidFill>
                  <a:srgbClr val="000000"/>
                </a:solidFill>
                <a:latin typeface="Times New Roman Bold"/>
                <a:ea typeface="Times New Roman Bold"/>
                <a:cs typeface="Times New Roman Bold"/>
                <a:sym typeface="Times New Roman Bold"/>
              </a:rPr>
              <a:t>Sequence diagrams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17213342" y="2701178"/>
            <a:ext cx="4758515" cy="47585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8" id="8"/>
          <p:cNvGrpSpPr/>
          <p:nvPr/>
        </p:nvGrpSpPr>
        <p:grpSpPr>
          <a:xfrm rot="0">
            <a:off x="16666443" y="656036"/>
            <a:ext cx="1241303" cy="575606"/>
            <a:chOff x="0" y="0"/>
            <a:chExt cx="326928" cy="151600"/>
          </a:xfrm>
        </p:grpSpPr>
        <p:sp>
          <p:nvSpPr>
            <p:cNvPr name="Freeform 9" id="9"/>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0" id="10"/>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1" id="11"/>
          <p:cNvSpPr/>
          <p:nvPr/>
        </p:nvSpPr>
        <p:spPr>
          <a:xfrm flipH="false" flipV="false" rot="0">
            <a:off x="16942528" y="793769"/>
            <a:ext cx="633545" cy="300142"/>
          </a:xfrm>
          <a:custGeom>
            <a:avLst/>
            <a:gdLst/>
            <a:ahLst/>
            <a:cxnLst/>
            <a:rect r="r" b="b" t="t" l="l"/>
            <a:pathLst>
              <a:path h="300142" w="633545">
                <a:moveTo>
                  <a:pt x="0" y="0"/>
                </a:moveTo>
                <a:lnTo>
                  <a:pt x="633544" y="0"/>
                </a:lnTo>
                <a:lnTo>
                  <a:pt x="633544"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0" y="0"/>
            <a:ext cx="1028700" cy="10287000"/>
            <a:chOff x="0" y="0"/>
            <a:chExt cx="270933" cy="2709333"/>
          </a:xfrm>
        </p:grpSpPr>
        <p:sp>
          <p:nvSpPr>
            <p:cNvPr name="Freeform 13" id="13"/>
            <p:cNvSpPr/>
            <p:nvPr/>
          </p:nvSpPr>
          <p:spPr>
            <a:xfrm flipH="false" flipV="false" rot="0">
              <a:off x="0" y="0"/>
              <a:ext cx="270933" cy="2709333"/>
            </a:xfrm>
            <a:custGeom>
              <a:avLst/>
              <a:gdLst/>
              <a:ahLst/>
              <a:cxnLst/>
              <a:rect r="r" b="b" t="t" l="l"/>
              <a:pathLst>
                <a:path h="2709333" w="270933">
                  <a:moveTo>
                    <a:pt x="0" y="0"/>
                  </a:moveTo>
                  <a:lnTo>
                    <a:pt x="270933" y="0"/>
                  </a:lnTo>
                  <a:lnTo>
                    <a:pt x="270933" y="2709333"/>
                  </a:lnTo>
                  <a:lnTo>
                    <a:pt x="0" y="2709333"/>
                  </a:lnTo>
                  <a:close/>
                </a:path>
              </a:pathLst>
            </a:custGeom>
            <a:solidFill>
              <a:srgbClr val="875A7A"/>
            </a:solidFill>
          </p:spPr>
        </p:sp>
        <p:sp>
          <p:nvSpPr>
            <p:cNvPr name="TextBox 14" id="14"/>
            <p:cNvSpPr txBox="true"/>
            <p:nvPr/>
          </p:nvSpPr>
          <p:spPr>
            <a:xfrm>
              <a:off x="0" y="-85725"/>
              <a:ext cx="270933" cy="2795058"/>
            </a:xfrm>
            <a:prstGeom prst="rect">
              <a:avLst/>
            </a:prstGeom>
          </p:spPr>
          <p:txBody>
            <a:bodyPr anchor="ctr" rtlCol="false" tIns="50800" lIns="50800" bIns="50800" rIns="50800"/>
            <a:lstStyle/>
            <a:p>
              <a:pPr algn="ctr">
                <a:lnSpc>
                  <a:spcPts val="2479"/>
                </a:lnSpc>
              </a:pPr>
            </a:p>
          </p:txBody>
        </p:sp>
      </p:grpSp>
      <p:sp>
        <p:nvSpPr>
          <p:cNvPr name="Freeform 15" id="15"/>
          <p:cNvSpPr/>
          <p:nvPr/>
        </p:nvSpPr>
        <p:spPr>
          <a:xfrm flipH="false" flipV="false" rot="0">
            <a:off x="1298495" y="2701178"/>
            <a:ext cx="9709491" cy="5647357"/>
          </a:xfrm>
          <a:custGeom>
            <a:avLst/>
            <a:gdLst/>
            <a:ahLst/>
            <a:cxnLst/>
            <a:rect r="r" b="b" t="t" l="l"/>
            <a:pathLst>
              <a:path h="5647357" w="9709491">
                <a:moveTo>
                  <a:pt x="0" y="0"/>
                </a:moveTo>
                <a:lnTo>
                  <a:pt x="9709491" y="0"/>
                </a:lnTo>
                <a:lnTo>
                  <a:pt x="9709491" y="5647357"/>
                </a:lnTo>
                <a:lnTo>
                  <a:pt x="0" y="5647357"/>
                </a:lnTo>
                <a:lnTo>
                  <a:pt x="0" y="0"/>
                </a:lnTo>
                <a:close/>
              </a:path>
            </a:pathLst>
          </a:custGeom>
          <a:blipFill>
            <a:blip r:embed="rId4"/>
            <a:stretch>
              <a:fillRect l="0" t="0" r="0" b="0"/>
            </a:stretch>
          </a:blipFill>
        </p:spPr>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
        <p:nvSpPr>
          <p:cNvPr name="TextBox 17" id="17"/>
          <p:cNvSpPr txBox="true"/>
          <p:nvPr/>
        </p:nvSpPr>
        <p:spPr>
          <a:xfrm rot="0">
            <a:off x="-879171" y="639885"/>
            <a:ext cx="11919627" cy="755650"/>
          </a:xfrm>
          <a:prstGeom prst="rect">
            <a:avLst/>
          </a:prstGeom>
        </p:spPr>
        <p:txBody>
          <a:bodyPr anchor="t" rtlCol="false" tIns="0" lIns="0" bIns="0" rIns="0">
            <a:spAutoFit/>
          </a:bodyPr>
          <a:lstStyle/>
          <a:p>
            <a:pPr algn="ctr">
              <a:lnSpc>
                <a:spcPts val="5599"/>
              </a:lnSpc>
            </a:pPr>
            <a:r>
              <a:rPr lang="en-US" sz="3999" b="true">
                <a:solidFill>
                  <a:srgbClr val="000000"/>
                </a:solidFill>
                <a:latin typeface="Times New Roman Bold"/>
                <a:ea typeface="Times New Roman Bold"/>
                <a:cs typeface="Times New Roman Bold"/>
                <a:sym typeface="Times New Roman Bold"/>
              </a:rPr>
              <a:t>Programming Lang</a:t>
            </a:r>
            <a:r>
              <a:rPr lang="en-US" sz="3999" b="true">
                <a:solidFill>
                  <a:srgbClr val="000000"/>
                </a:solidFill>
                <a:latin typeface="Times New Roman Bold"/>
                <a:ea typeface="Times New Roman Bold"/>
                <a:cs typeface="Times New Roman Bold"/>
                <a:sym typeface="Times New Roman Bold"/>
              </a:rPr>
              <a:t>uages and Tools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17213342" y="2701178"/>
            <a:ext cx="4758515" cy="47585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8" id="8"/>
          <p:cNvGrpSpPr/>
          <p:nvPr/>
        </p:nvGrpSpPr>
        <p:grpSpPr>
          <a:xfrm rot="0">
            <a:off x="16666443" y="656036"/>
            <a:ext cx="1241303" cy="575606"/>
            <a:chOff x="0" y="0"/>
            <a:chExt cx="326928" cy="151600"/>
          </a:xfrm>
        </p:grpSpPr>
        <p:sp>
          <p:nvSpPr>
            <p:cNvPr name="Freeform 9" id="9"/>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0" id="10"/>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1" id="11"/>
          <p:cNvSpPr/>
          <p:nvPr/>
        </p:nvSpPr>
        <p:spPr>
          <a:xfrm flipH="false" flipV="false" rot="0">
            <a:off x="16942528" y="793769"/>
            <a:ext cx="633545" cy="300142"/>
          </a:xfrm>
          <a:custGeom>
            <a:avLst/>
            <a:gdLst/>
            <a:ahLst/>
            <a:cxnLst/>
            <a:rect r="r" b="b" t="t" l="l"/>
            <a:pathLst>
              <a:path h="300142" w="633545">
                <a:moveTo>
                  <a:pt x="0" y="0"/>
                </a:moveTo>
                <a:lnTo>
                  <a:pt x="633544" y="0"/>
                </a:lnTo>
                <a:lnTo>
                  <a:pt x="633544"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0" y="0"/>
            <a:ext cx="1028700" cy="10287000"/>
            <a:chOff x="0" y="0"/>
            <a:chExt cx="270933" cy="2709333"/>
          </a:xfrm>
        </p:grpSpPr>
        <p:sp>
          <p:nvSpPr>
            <p:cNvPr name="Freeform 13" id="13"/>
            <p:cNvSpPr/>
            <p:nvPr/>
          </p:nvSpPr>
          <p:spPr>
            <a:xfrm flipH="false" flipV="false" rot="0">
              <a:off x="0" y="0"/>
              <a:ext cx="270933" cy="2709333"/>
            </a:xfrm>
            <a:custGeom>
              <a:avLst/>
              <a:gdLst/>
              <a:ahLst/>
              <a:cxnLst/>
              <a:rect r="r" b="b" t="t" l="l"/>
              <a:pathLst>
                <a:path h="2709333" w="270933">
                  <a:moveTo>
                    <a:pt x="0" y="0"/>
                  </a:moveTo>
                  <a:lnTo>
                    <a:pt x="270933" y="0"/>
                  </a:lnTo>
                  <a:lnTo>
                    <a:pt x="270933" y="2709333"/>
                  </a:lnTo>
                  <a:lnTo>
                    <a:pt x="0" y="2709333"/>
                  </a:lnTo>
                  <a:close/>
                </a:path>
              </a:pathLst>
            </a:custGeom>
            <a:solidFill>
              <a:srgbClr val="875A7A"/>
            </a:solidFill>
          </p:spPr>
        </p:sp>
        <p:sp>
          <p:nvSpPr>
            <p:cNvPr name="TextBox 14" id="14"/>
            <p:cNvSpPr txBox="true"/>
            <p:nvPr/>
          </p:nvSpPr>
          <p:spPr>
            <a:xfrm>
              <a:off x="0" y="-85725"/>
              <a:ext cx="270933" cy="2795058"/>
            </a:xfrm>
            <a:prstGeom prst="rect">
              <a:avLst/>
            </a:prstGeom>
          </p:spPr>
          <p:txBody>
            <a:bodyPr anchor="ctr" rtlCol="false" tIns="50800" lIns="50800" bIns="50800" rIns="50800"/>
            <a:lstStyle/>
            <a:p>
              <a:pPr algn="ctr">
                <a:lnSpc>
                  <a:spcPts val="2479"/>
                </a:lnSpc>
              </a:pPr>
            </a:p>
          </p:txBody>
        </p:sp>
      </p:grpSp>
      <p:sp>
        <p:nvSpPr>
          <p:cNvPr name="Freeform 15" id="15"/>
          <p:cNvSpPr/>
          <p:nvPr/>
        </p:nvSpPr>
        <p:spPr>
          <a:xfrm flipH="false" flipV="false" rot="0">
            <a:off x="9144000" y="3753354"/>
            <a:ext cx="7522443" cy="4174654"/>
          </a:xfrm>
          <a:custGeom>
            <a:avLst/>
            <a:gdLst/>
            <a:ahLst/>
            <a:cxnLst/>
            <a:rect r="r" b="b" t="t" l="l"/>
            <a:pathLst>
              <a:path h="4174654" w="7522443">
                <a:moveTo>
                  <a:pt x="0" y="0"/>
                </a:moveTo>
                <a:lnTo>
                  <a:pt x="7522443" y="0"/>
                </a:lnTo>
                <a:lnTo>
                  <a:pt x="7522443" y="4174654"/>
                </a:lnTo>
                <a:lnTo>
                  <a:pt x="0" y="4174654"/>
                </a:lnTo>
                <a:lnTo>
                  <a:pt x="0" y="0"/>
                </a:lnTo>
                <a:close/>
              </a:path>
            </a:pathLst>
          </a:custGeom>
          <a:blipFill>
            <a:blip r:embed="rId4"/>
            <a:stretch>
              <a:fillRect l="0" t="0" r="-7759" b="0"/>
            </a:stretch>
          </a:blipFill>
        </p:spPr>
      </p:sp>
      <p:sp>
        <p:nvSpPr>
          <p:cNvPr name="Freeform 16" id="16"/>
          <p:cNvSpPr/>
          <p:nvPr/>
        </p:nvSpPr>
        <p:spPr>
          <a:xfrm flipH="false" flipV="false" rot="0">
            <a:off x="1854336" y="2459876"/>
            <a:ext cx="6464028" cy="6326668"/>
          </a:xfrm>
          <a:custGeom>
            <a:avLst/>
            <a:gdLst/>
            <a:ahLst/>
            <a:cxnLst/>
            <a:rect r="r" b="b" t="t" l="l"/>
            <a:pathLst>
              <a:path h="6326668" w="6464028">
                <a:moveTo>
                  <a:pt x="0" y="0"/>
                </a:moveTo>
                <a:lnTo>
                  <a:pt x="6464028" y="0"/>
                </a:lnTo>
                <a:lnTo>
                  <a:pt x="6464028" y="6326668"/>
                </a:lnTo>
                <a:lnTo>
                  <a:pt x="0" y="6326668"/>
                </a:lnTo>
                <a:lnTo>
                  <a:pt x="0" y="0"/>
                </a:lnTo>
                <a:close/>
              </a:path>
            </a:pathLst>
          </a:custGeom>
          <a:blipFill>
            <a:blip r:embed="rId5"/>
            <a:stretch>
              <a:fillRect l="0" t="0" r="0" b="0"/>
            </a:stretch>
          </a:blipFill>
        </p:spPr>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sp>
        <p:nvSpPr>
          <p:cNvPr name="TextBox 18" id="18"/>
          <p:cNvSpPr txBox="true"/>
          <p:nvPr/>
        </p:nvSpPr>
        <p:spPr>
          <a:xfrm rot="0">
            <a:off x="-680146" y="777618"/>
            <a:ext cx="11919627" cy="755650"/>
          </a:xfrm>
          <a:prstGeom prst="rect">
            <a:avLst/>
          </a:prstGeom>
        </p:spPr>
        <p:txBody>
          <a:bodyPr anchor="t" rtlCol="false" tIns="0" lIns="0" bIns="0" rIns="0">
            <a:spAutoFit/>
          </a:bodyPr>
          <a:lstStyle/>
          <a:p>
            <a:pPr algn="ctr">
              <a:lnSpc>
                <a:spcPts val="5599"/>
              </a:lnSpc>
            </a:pPr>
            <a:r>
              <a:rPr lang="en-US" sz="3999" b="true">
                <a:solidFill>
                  <a:srgbClr val="000000"/>
                </a:solidFill>
                <a:latin typeface="Times New Roman Bold"/>
                <a:ea typeface="Times New Roman Bold"/>
                <a:cs typeface="Times New Roman Bold"/>
                <a:sym typeface="Times New Roman Bold"/>
              </a:rPr>
              <a:t>Programming Lang</a:t>
            </a:r>
            <a:r>
              <a:rPr lang="en-US" sz="3999" b="true">
                <a:solidFill>
                  <a:srgbClr val="000000"/>
                </a:solidFill>
                <a:latin typeface="Times New Roman Bold"/>
                <a:ea typeface="Times New Roman Bold"/>
                <a:cs typeface="Times New Roman Bold"/>
                <a:sym typeface="Times New Roman Bold"/>
              </a:rPr>
              <a:t>uages and Tools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17213342" y="2701178"/>
            <a:ext cx="4758515" cy="47585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8" id="8"/>
          <p:cNvGrpSpPr/>
          <p:nvPr/>
        </p:nvGrpSpPr>
        <p:grpSpPr>
          <a:xfrm rot="0">
            <a:off x="16666443" y="656036"/>
            <a:ext cx="1241303" cy="575606"/>
            <a:chOff x="0" y="0"/>
            <a:chExt cx="326928" cy="151600"/>
          </a:xfrm>
        </p:grpSpPr>
        <p:sp>
          <p:nvSpPr>
            <p:cNvPr name="Freeform 9" id="9"/>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0" id="10"/>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1" id="11"/>
          <p:cNvSpPr/>
          <p:nvPr/>
        </p:nvSpPr>
        <p:spPr>
          <a:xfrm flipH="false" flipV="false" rot="0">
            <a:off x="16942528" y="793769"/>
            <a:ext cx="633545" cy="300142"/>
          </a:xfrm>
          <a:custGeom>
            <a:avLst/>
            <a:gdLst/>
            <a:ahLst/>
            <a:cxnLst/>
            <a:rect r="r" b="b" t="t" l="l"/>
            <a:pathLst>
              <a:path h="300142" w="633545">
                <a:moveTo>
                  <a:pt x="0" y="0"/>
                </a:moveTo>
                <a:lnTo>
                  <a:pt x="633544" y="0"/>
                </a:lnTo>
                <a:lnTo>
                  <a:pt x="633544"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643553" y="341550"/>
            <a:ext cx="15569790" cy="9781136"/>
          </a:xfrm>
          <a:prstGeom prst="rect">
            <a:avLst/>
          </a:prstGeom>
        </p:spPr>
        <p:txBody>
          <a:bodyPr anchor="t" rtlCol="false" tIns="0" lIns="0" bIns="0" rIns="0">
            <a:spAutoFit/>
          </a:bodyPr>
          <a:lstStyle/>
          <a:p>
            <a:pPr algn="ctr">
              <a:lnSpc>
                <a:spcPts val="4612"/>
              </a:lnSpc>
            </a:pPr>
            <a:r>
              <a:rPr lang="en-US" b="true" sz="3294" i="true">
                <a:solidFill>
                  <a:srgbClr val="000000"/>
                </a:solidFill>
                <a:latin typeface="Times New Roman Bold Italics"/>
                <a:ea typeface="Times New Roman Bold Italics"/>
                <a:cs typeface="Times New Roman Bold Italics"/>
                <a:sym typeface="Times New Roman Bold Italics"/>
              </a:rPr>
              <a:t>USER INTERFACE </a:t>
            </a:r>
          </a:p>
          <a:p>
            <a:pPr algn="l">
              <a:lnSpc>
                <a:spcPts val="4192"/>
              </a:lnSpc>
            </a:pPr>
          </a:p>
          <a:p>
            <a:pPr algn="l">
              <a:lnSpc>
                <a:spcPts val="4192"/>
              </a:lnSpc>
            </a:pPr>
          </a:p>
          <a:p>
            <a:pPr algn="l">
              <a:lnSpc>
                <a:spcPts val="4232"/>
              </a:lnSpc>
            </a:pPr>
            <a:r>
              <a:rPr lang="en-US" sz="3023" b="true">
                <a:solidFill>
                  <a:srgbClr val="000000"/>
                </a:solidFill>
                <a:latin typeface="Times New Roman Bold"/>
                <a:ea typeface="Times New Roman Bold"/>
                <a:cs typeface="Times New Roman Bold"/>
                <a:sym typeface="Times New Roman Bold"/>
              </a:rPr>
              <a:t> </a:t>
            </a:r>
          </a:p>
          <a:p>
            <a:pPr algn="l">
              <a:lnSpc>
                <a:spcPts val="4232"/>
              </a:lnSpc>
            </a:pPr>
          </a:p>
          <a:p>
            <a:pPr algn="l">
              <a:lnSpc>
                <a:spcPts val="3385"/>
              </a:lnSpc>
            </a:pPr>
          </a:p>
          <a:p>
            <a:pPr algn="l">
              <a:lnSpc>
                <a:spcPts val="4232"/>
              </a:lnSpc>
            </a:pPr>
          </a:p>
          <a:p>
            <a:pPr algn="l">
              <a:lnSpc>
                <a:spcPts val="4232"/>
              </a:lnSpc>
            </a:pPr>
          </a:p>
          <a:p>
            <a:pPr algn="l">
              <a:lnSpc>
                <a:spcPts val="4232"/>
              </a:lnSpc>
            </a:pPr>
          </a:p>
          <a:p>
            <a:pPr algn="l">
              <a:lnSpc>
                <a:spcPts val="4232"/>
              </a:lnSpc>
            </a:pPr>
          </a:p>
          <a:p>
            <a:pPr algn="l">
              <a:lnSpc>
                <a:spcPts val="6301"/>
              </a:lnSpc>
            </a:pPr>
            <a:r>
              <a:rPr lang="en-US" b="true" sz="4501" i="true">
                <a:solidFill>
                  <a:srgbClr val="000000"/>
                </a:solidFill>
                <a:latin typeface="Times New Roman Bold Italics"/>
                <a:ea typeface="Times New Roman Bold Italics"/>
                <a:cs typeface="Times New Roman Bold Italics"/>
                <a:sym typeface="Times New Roman Bold Italics"/>
              </a:rPr>
              <a:t>    </a:t>
            </a:r>
          </a:p>
          <a:p>
            <a:pPr algn="l">
              <a:lnSpc>
                <a:spcPts val="6301"/>
              </a:lnSpc>
            </a:pPr>
          </a:p>
          <a:p>
            <a:pPr algn="l">
              <a:lnSpc>
                <a:spcPts val="6301"/>
              </a:lnSpc>
            </a:pPr>
          </a:p>
          <a:p>
            <a:pPr algn="l">
              <a:lnSpc>
                <a:spcPts val="6529"/>
              </a:lnSpc>
            </a:pPr>
          </a:p>
          <a:p>
            <a:pPr algn="l">
              <a:lnSpc>
                <a:spcPts val="10202"/>
              </a:lnSpc>
            </a:pPr>
          </a:p>
        </p:txBody>
      </p:sp>
      <p:grpSp>
        <p:nvGrpSpPr>
          <p:cNvPr name="Group 13" id="13"/>
          <p:cNvGrpSpPr/>
          <p:nvPr/>
        </p:nvGrpSpPr>
        <p:grpSpPr>
          <a:xfrm rot="0">
            <a:off x="0" y="0"/>
            <a:ext cx="1028700" cy="10287000"/>
            <a:chOff x="0" y="0"/>
            <a:chExt cx="270933" cy="2709333"/>
          </a:xfrm>
        </p:grpSpPr>
        <p:sp>
          <p:nvSpPr>
            <p:cNvPr name="Freeform 14" id="14"/>
            <p:cNvSpPr/>
            <p:nvPr/>
          </p:nvSpPr>
          <p:spPr>
            <a:xfrm flipH="false" flipV="false" rot="0">
              <a:off x="0" y="0"/>
              <a:ext cx="270933" cy="2709333"/>
            </a:xfrm>
            <a:custGeom>
              <a:avLst/>
              <a:gdLst/>
              <a:ahLst/>
              <a:cxnLst/>
              <a:rect r="r" b="b" t="t" l="l"/>
              <a:pathLst>
                <a:path h="2709333" w="270933">
                  <a:moveTo>
                    <a:pt x="0" y="0"/>
                  </a:moveTo>
                  <a:lnTo>
                    <a:pt x="270933" y="0"/>
                  </a:lnTo>
                  <a:lnTo>
                    <a:pt x="270933" y="2709333"/>
                  </a:lnTo>
                  <a:lnTo>
                    <a:pt x="0" y="2709333"/>
                  </a:lnTo>
                  <a:close/>
                </a:path>
              </a:pathLst>
            </a:custGeom>
            <a:solidFill>
              <a:srgbClr val="875A7A"/>
            </a:solidFill>
          </p:spPr>
        </p:sp>
        <p:sp>
          <p:nvSpPr>
            <p:cNvPr name="TextBox 15" id="15"/>
            <p:cNvSpPr txBox="true"/>
            <p:nvPr/>
          </p:nvSpPr>
          <p:spPr>
            <a:xfrm>
              <a:off x="0" y="-85725"/>
              <a:ext cx="270933" cy="2795058"/>
            </a:xfrm>
            <a:prstGeom prst="rect">
              <a:avLst/>
            </a:prstGeom>
          </p:spPr>
          <p:txBody>
            <a:bodyPr anchor="ctr" rtlCol="false" tIns="50800" lIns="50800" bIns="50800" rIns="50800"/>
            <a:lstStyle/>
            <a:p>
              <a:pPr algn="ctr">
                <a:lnSpc>
                  <a:spcPts val="2479"/>
                </a:lnSpc>
              </a:pPr>
            </a:p>
          </p:txBody>
        </p:sp>
      </p:grpSp>
      <p:sp>
        <p:nvSpPr>
          <p:cNvPr name="Freeform 16" id="16"/>
          <p:cNvSpPr/>
          <p:nvPr/>
        </p:nvSpPr>
        <p:spPr>
          <a:xfrm flipH="false" flipV="false" rot="0">
            <a:off x="1643553" y="1107857"/>
            <a:ext cx="4113475" cy="8822467"/>
          </a:xfrm>
          <a:custGeom>
            <a:avLst/>
            <a:gdLst/>
            <a:ahLst/>
            <a:cxnLst/>
            <a:rect r="r" b="b" t="t" l="l"/>
            <a:pathLst>
              <a:path h="8822467" w="4113475">
                <a:moveTo>
                  <a:pt x="0" y="0"/>
                </a:moveTo>
                <a:lnTo>
                  <a:pt x="4113475" y="0"/>
                </a:lnTo>
                <a:lnTo>
                  <a:pt x="4113475" y="8822467"/>
                </a:lnTo>
                <a:lnTo>
                  <a:pt x="0" y="8822467"/>
                </a:lnTo>
                <a:lnTo>
                  <a:pt x="0" y="0"/>
                </a:lnTo>
                <a:close/>
              </a:path>
            </a:pathLst>
          </a:custGeom>
          <a:blipFill>
            <a:blip r:embed="rId4"/>
            <a:stretch>
              <a:fillRect l="0" t="0" r="0" b="0"/>
            </a:stretch>
          </a:blipFill>
        </p:spPr>
      </p:sp>
      <p:sp>
        <p:nvSpPr>
          <p:cNvPr name="Freeform 17" id="17"/>
          <p:cNvSpPr/>
          <p:nvPr/>
        </p:nvSpPr>
        <p:spPr>
          <a:xfrm flipH="false" flipV="false" rot="0">
            <a:off x="7242244" y="1231643"/>
            <a:ext cx="4055760" cy="8698681"/>
          </a:xfrm>
          <a:custGeom>
            <a:avLst/>
            <a:gdLst/>
            <a:ahLst/>
            <a:cxnLst/>
            <a:rect r="r" b="b" t="t" l="l"/>
            <a:pathLst>
              <a:path h="8698681" w="4055760">
                <a:moveTo>
                  <a:pt x="0" y="0"/>
                </a:moveTo>
                <a:lnTo>
                  <a:pt x="4055761" y="0"/>
                </a:lnTo>
                <a:lnTo>
                  <a:pt x="4055761" y="8698681"/>
                </a:lnTo>
                <a:lnTo>
                  <a:pt x="0" y="8698681"/>
                </a:lnTo>
                <a:lnTo>
                  <a:pt x="0" y="0"/>
                </a:lnTo>
                <a:close/>
              </a:path>
            </a:pathLst>
          </a:custGeom>
          <a:blipFill>
            <a:blip r:embed="rId5"/>
            <a:stretch>
              <a:fillRect l="0" t="0" r="0" b="0"/>
            </a:stretch>
          </a:blipFill>
        </p:spPr>
      </p:sp>
      <p:sp>
        <p:nvSpPr>
          <p:cNvPr name="Freeform 18" id="18"/>
          <p:cNvSpPr/>
          <p:nvPr/>
        </p:nvSpPr>
        <p:spPr>
          <a:xfrm flipH="false" flipV="false" rot="0">
            <a:off x="12727851" y="1236327"/>
            <a:ext cx="4053576" cy="8693997"/>
          </a:xfrm>
          <a:custGeom>
            <a:avLst/>
            <a:gdLst/>
            <a:ahLst/>
            <a:cxnLst/>
            <a:rect r="r" b="b" t="t" l="l"/>
            <a:pathLst>
              <a:path h="8693997" w="4053576">
                <a:moveTo>
                  <a:pt x="0" y="0"/>
                </a:moveTo>
                <a:lnTo>
                  <a:pt x="4053576" y="0"/>
                </a:lnTo>
                <a:lnTo>
                  <a:pt x="4053576" y="8693997"/>
                </a:lnTo>
                <a:lnTo>
                  <a:pt x="0" y="8693997"/>
                </a:lnTo>
                <a:lnTo>
                  <a:pt x="0" y="0"/>
                </a:lnTo>
                <a:close/>
              </a:path>
            </a:pathLst>
          </a:custGeom>
          <a:blipFill>
            <a:blip r:embed="rId6"/>
            <a:stretch>
              <a:fillRect l="0" t="0" r="0" b="0"/>
            </a:stretch>
          </a:blipFill>
        </p:spPr>
      </p:sp>
      <p:sp>
        <p:nvSpPr>
          <p:cNvPr name="TextBox 19" id="1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17213342" y="2701178"/>
            <a:ext cx="4758515" cy="47585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8" id="8"/>
          <p:cNvGrpSpPr/>
          <p:nvPr/>
        </p:nvGrpSpPr>
        <p:grpSpPr>
          <a:xfrm rot="0">
            <a:off x="16666443" y="656036"/>
            <a:ext cx="1241303" cy="575606"/>
            <a:chOff x="0" y="0"/>
            <a:chExt cx="326928" cy="151600"/>
          </a:xfrm>
        </p:grpSpPr>
        <p:sp>
          <p:nvSpPr>
            <p:cNvPr name="Freeform 9" id="9"/>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0" id="10"/>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1" id="11"/>
          <p:cNvSpPr/>
          <p:nvPr/>
        </p:nvSpPr>
        <p:spPr>
          <a:xfrm flipH="false" flipV="false" rot="0">
            <a:off x="16942528" y="793769"/>
            <a:ext cx="633545" cy="300142"/>
          </a:xfrm>
          <a:custGeom>
            <a:avLst/>
            <a:gdLst/>
            <a:ahLst/>
            <a:cxnLst/>
            <a:rect r="r" b="b" t="t" l="l"/>
            <a:pathLst>
              <a:path h="300142" w="633545">
                <a:moveTo>
                  <a:pt x="0" y="0"/>
                </a:moveTo>
                <a:lnTo>
                  <a:pt x="633544" y="0"/>
                </a:lnTo>
                <a:lnTo>
                  <a:pt x="633544"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643553" y="341550"/>
            <a:ext cx="15569790" cy="9781136"/>
          </a:xfrm>
          <a:prstGeom prst="rect">
            <a:avLst/>
          </a:prstGeom>
        </p:spPr>
        <p:txBody>
          <a:bodyPr anchor="t" rtlCol="false" tIns="0" lIns="0" bIns="0" rIns="0">
            <a:spAutoFit/>
          </a:bodyPr>
          <a:lstStyle/>
          <a:p>
            <a:pPr algn="ctr">
              <a:lnSpc>
                <a:spcPts val="4612"/>
              </a:lnSpc>
            </a:pPr>
            <a:r>
              <a:rPr lang="en-US" b="true" sz="3294" i="true">
                <a:solidFill>
                  <a:srgbClr val="000000"/>
                </a:solidFill>
                <a:latin typeface="Times New Roman Bold Italics"/>
                <a:ea typeface="Times New Roman Bold Italics"/>
                <a:cs typeface="Times New Roman Bold Italics"/>
                <a:sym typeface="Times New Roman Bold Italics"/>
              </a:rPr>
              <a:t>USER INTERFACE </a:t>
            </a:r>
          </a:p>
          <a:p>
            <a:pPr algn="l">
              <a:lnSpc>
                <a:spcPts val="4192"/>
              </a:lnSpc>
            </a:pPr>
          </a:p>
          <a:p>
            <a:pPr algn="l">
              <a:lnSpc>
                <a:spcPts val="4192"/>
              </a:lnSpc>
            </a:pPr>
          </a:p>
          <a:p>
            <a:pPr algn="l">
              <a:lnSpc>
                <a:spcPts val="4232"/>
              </a:lnSpc>
            </a:pPr>
            <a:r>
              <a:rPr lang="en-US" sz="3023" b="true">
                <a:solidFill>
                  <a:srgbClr val="000000"/>
                </a:solidFill>
                <a:latin typeface="Times New Roman Bold"/>
                <a:ea typeface="Times New Roman Bold"/>
                <a:cs typeface="Times New Roman Bold"/>
                <a:sym typeface="Times New Roman Bold"/>
              </a:rPr>
              <a:t> </a:t>
            </a:r>
          </a:p>
          <a:p>
            <a:pPr algn="l">
              <a:lnSpc>
                <a:spcPts val="4232"/>
              </a:lnSpc>
            </a:pPr>
          </a:p>
          <a:p>
            <a:pPr algn="l">
              <a:lnSpc>
                <a:spcPts val="3385"/>
              </a:lnSpc>
            </a:pPr>
          </a:p>
          <a:p>
            <a:pPr algn="l">
              <a:lnSpc>
                <a:spcPts val="4232"/>
              </a:lnSpc>
            </a:pPr>
          </a:p>
          <a:p>
            <a:pPr algn="l">
              <a:lnSpc>
                <a:spcPts val="4232"/>
              </a:lnSpc>
            </a:pPr>
          </a:p>
          <a:p>
            <a:pPr algn="l">
              <a:lnSpc>
                <a:spcPts val="4232"/>
              </a:lnSpc>
            </a:pPr>
          </a:p>
          <a:p>
            <a:pPr algn="l">
              <a:lnSpc>
                <a:spcPts val="4232"/>
              </a:lnSpc>
            </a:pPr>
          </a:p>
          <a:p>
            <a:pPr algn="l">
              <a:lnSpc>
                <a:spcPts val="6301"/>
              </a:lnSpc>
            </a:pPr>
            <a:r>
              <a:rPr lang="en-US" b="true" sz="4501" i="true">
                <a:solidFill>
                  <a:srgbClr val="000000"/>
                </a:solidFill>
                <a:latin typeface="Times New Roman Bold Italics"/>
                <a:ea typeface="Times New Roman Bold Italics"/>
                <a:cs typeface="Times New Roman Bold Italics"/>
                <a:sym typeface="Times New Roman Bold Italics"/>
              </a:rPr>
              <a:t>    </a:t>
            </a:r>
          </a:p>
          <a:p>
            <a:pPr algn="l">
              <a:lnSpc>
                <a:spcPts val="6301"/>
              </a:lnSpc>
            </a:pPr>
          </a:p>
          <a:p>
            <a:pPr algn="l">
              <a:lnSpc>
                <a:spcPts val="6301"/>
              </a:lnSpc>
            </a:pPr>
          </a:p>
          <a:p>
            <a:pPr algn="l">
              <a:lnSpc>
                <a:spcPts val="6529"/>
              </a:lnSpc>
            </a:pPr>
          </a:p>
          <a:p>
            <a:pPr algn="l">
              <a:lnSpc>
                <a:spcPts val="10202"/>
              </a:lnSpc>
            </a:pPr>
          </a:p>
        </p:txBody>
      </p:sp>
      <p:grpSp>
        <p:nvGrpSpPr>
          <p:cNvPr name="Group 13" id="13"/>
          <p:cNvGrpSpPr/>
          <p:nvPr/>
        </p:nvGrpSpPr>
        <p:grpSpPr>
          <a:xfrm rot="0">
            <a:off x="0" y="0"/>
            <a:ext cx="1028700" cy="10287000"/>
            <a:chOff x="0" y="0"/>
            <a:chExt cx="270933" cy="2709333"/>
          </a:xfrm>
        </p:grpSpPr>
        <p:sp>
          <p:nvSpPr>
            <p:cNvPr name="Freeform 14" id="14"/>
            <p:cNvSpPr/>
            <p:nvPr/>
          </p:nvSpPr>
          <p:spPr>
            <a:xfrm flipH="false" flipV="false" rot="0">
              <a:off x="0" y="0"/>
              <a:ext cx="270933" cy="2709333"/>
            </a:xfrm>
            <a:custGeom>
              <a:avLst/>
              <a:gdLst/>
              <a:ahLst/>
              <a:cxnLst/>
              <a:rect r="r" b="b" t="t" l="l"/>
              <a:pathLst>
                <a:path h="2709333" w="270933">
                  <a:moveTo>
                    <a:pt x="0" y="0"/>
                  </a:moveTo>
                  <a:lnTo>
                    <a:pt x="270933" y="0"/>
                  </a:lnTo>
                  <a:lnTo>
                    <a:pt x="270933" y="2709333"/>
                  </a:lnTo>
                  <a:lnTo>
                    <a:pt x="0" y="2709333"/>
                  </a:lnTo>
                  <a:close/>
                </a:path>
              </a:pathLst>
            </a:custGeom>
            <a:solidFill>
              <a:srgbClr val="875A7A"/>
            </a:solidFill>
          </p:spPr>
        </p:sp>
        <p:sp>
          <p:nvSpPr>
            <p:cNvPr name="TextBox 15" id="15"/>
            <p:cNvSpPr txBox="true"/>
            <p:nvPr/>
          </p:nvSpPr>
          <p:spPr>
            <a:xfrm>
              <a:off x="0" y="-85725"/>
              <a:ext cx="270933" cy="2795058"/>
            </a:xfrm>
            <a:prstGeom prst="rect">
              <a:avLst/>
            </a:prstGeom>
          </p:spPr>
          <p:txBody>
            <a:bodyPr anchor="ctr" rtlCol="false" tIns="50800" lIns="50800" bIns="50800" rIns="50800"/>
            <a:lstStyle/>
            <a:p>
              <a:pPr algn="ctr">
                <a:lnSpc>
                  <a:spcPts val="2479"/>
                </a:lnSpc>
              </a:pPr>
            </a:p>
          </p:txBody>
        </p:sp>
      </p:grpSp>
      <p:sp>
        <p:nvSpPr>
          <p:cNvPr name="Freeform 16" id="16"/>
          <p:cNvSpPr/>
          <p:nvPr/>
        </p:nvSpPr>
        <p:spPr>
          <a:xfrm flipH="false" flipV="false" rot="0">
            <a:off x="1643553" y="943840"/>
            <a:ext cx="4114553" cy="8824779"/>
          </a:xfrm>
          <a:custGeom>
            <a:avLst/>
            <a:gdLst/>
            <a:ahLst/>
            <a:cxnLst/>
            <a:rect r="r" b="b" t="t" l="l"/>
            <a:pathLst>
              <a:path h="8824779" w="4114553">
                <a:moveTo>
                  <a:pt x="0" y="0"/>
                </a:moveTo>
                <a:lnTo>
                  <a:pt x="4114553" y="0"/>
                </a:lnTo>
                <a:lnTo>
                  <a:pt x="4114553" y="8824779"/>
                </a:lnTo>
                <a:lnTo>
                  <a:pt x="0" y="8824779"/>
                </a:lnTo>
                <a:lnTo>
                  <a:pt x="0" y="0"/>
                </a:lnTo>
                <a:close/>
              </a:path>
            </a:pathLst>
          </a:custGeom>
          <a:blipFill>
            <a:blip r:embed="rId4"/>
            <a:stretch>
              <a:fillRect l="0" t="0" r="0" b="0"/>
            </a:stretch>
          </a:blipFill>
        </p:spPr>
      </p:sp>
      <p:sp>
        <p:nvSpPr>
          <p:cNvPr name="Freeform 17" id="17"/>
          <p:cNvSpPr/>
          <p:nvPr/>
        </p:nvSpPr>
        <p:spPr>
          <a:xfrm flipH="false" flipV="false" rot="0">
            <a:off x="7406028" y="1028700"/>
            <a:ext cx="4044838" cy="8675256"/>
          </a:xfrm>
          <a:custGeom>
            <a:avLst/>
            <a:gdLst/>
            <a:ahLst/>
            <a:cxnLst/>
            <a:rect r="r" b="b" t="t" l="l"/>
            <a:pathLst>
              <a:path h="8675256" w="4044838">
                <a:moveTo>
                  <a:pt x="0" y="0"/>
                </a:moveTo>
                <a:lnTo>
                  <a:pt x="4044838" y="0"/>
                </a:lnTo>
                <a:lnTo>
                  <a:pt x="4044838" y="8675256"/>
                </a:lnTo>
                <a:lnTo>
                  <a:pt x="0" y="8675256"/>
                </a:lnTo>
                <a:lnTo>
                  <a:pt x="0" y="0"/>
                </a:lnTo>
                <a:close/>
              </a:path>
            </a:pathLst>
          </a:custGeom>
          <a:blipFill>
            <a:blip r:embed="rId5"/>
            <a:stretch>
              <a:fillRect l="0" t="0" r="0" b="0"/>
            </a:stretch>
          </a:blipFill>
        </p:spPr>
      </p:sp>
      <p:sp>
        <p:nvSpPr>
          <p:cNvPr name="Freeform 18" id="18"/>
          <p:cNvSpPr/>
          <p:nvPr/>
        </p:nvSpPr>
        <p:spPr>
          <a:xfrm flipH="false" flipV="false" rot="0">
            <a:off x="12431400" y="1028700"/>
            <a:ext cx="4004149" cy="8587986"/>
          </a:xfrm>
          <a:custGeom>
            <a:avLst/>
            <a:gdLst/>
            <a:ahLst/>
            <a:cxnLst/>
            <a:rect r="r" b="b" t="t" l="l"/>
            <a:pathLst>
              <a:path h="8587986" w="4004149">
                <a:moveTo>
                  <a:pt x="0" y="0"/>
                </a:moveTo>
                <a:lnTo>
                  <a:pt x="4004149" y="0"/>
                </a:lnTo>
                <a:lnTo>
                  <a:pt x="4004149" y="8587986"/>
                </a:lnTo>
                <a:lnTo>
                  <a:pt x="0" y="8587986"/>
                </a:lnTo>
                <a:lnTo>
                  <a:pt x="0" y="0"/>
                </a:lnTo>
                <a:close/>
              </a:path>
            </a:pathLst>
          </a:custGeom>
          <a:blipFill>
            <a:blip r:embed="rId6"/>
            <a:stretch>
              <a:fillRect l="0" t="0" r="0" b="0"/>
            </a:stretch>
          </a:blipFill>
        </p:spPr>
      </p:sp>
      <p:sp>
        <p:nvSpPr>
          <p:cNvPr name="TextBox 19" id="1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17213342" y="2701178"/>
            <a:ext cx="4758515" cy="47585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8" id="8"/>
          <p:cNvGrpSpPr/>
          <p:nvPr/>
        </p:nvGrpSpPr>
        <p:grpSpPr>
          <a:xfrm rot="0">
            <a:off x="16666443" y="656036"/>
            <a:ext cx="1241303" cy="575606"/>
            <a:chOff x="0" y="0"/>
            <a:chExt cx="326928" cy="151600"/>
          </a:xfrm>
        </p:grpSpPr>
        <p:sp>
          <p:nvSpPr>
            <p:cNvPr name="Freeform 9" id="9"/>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0" id="10"/>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1" id="11"/>
          <p:cNvSpPr/>
          <p:nvPr/>
        </p:nvSpPr>
        <p:spPr>
          <a:xfrm flipH="false" flipV="false" rot="0">
            <a:off x="16942528" y="793769"/>
            <a:ext cx="633545" cy="300142"/>
          </a:xfrm>
          <a:custGeom>
            <a:avLst/>
            <a:gdLst/>
            <a:ahLst/>
            <a:cxnLst/>
            <a:rect r="r" b="b" t="t" l="l"/>
            <a:pathLst>
              <a:path h="300142" w="633545">
                <a:moveTo>
                  <a:pt x="0" y="0"/>
                </a:moveTo>
                <a:lnTo>
                  <a:pt x="633544" y="0"/>
                </a:lnTo>
                <a:lnTo>
                  <a:pt x="633544"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643553" y="186257"/>
            <a:ext cx="15569790" cy="9781136"/>
          </a:xfrm>
          <a:prstGeom prst="rect">
            <a:avLst/>
          </a:prstGeom>
        </p:spPr>
        <p:txBody>
          <a:bodyPr anchor="t" rtlCol="false" tIns="0" lIns="0" bIns="0" rIns="0">
            <a:spAutoFit/>
          </a:bodyPr>
          <a:lstStyle/>
          <a:p>
            <a:pPr algn="ctr">
              <a:lnSpc>
                <a:spcPts val="4612"/>
              </a:lnSpc>
            </a:pPr>
            <a:r>
              <a:rPr lang="en-US" b="true" sz="3294" i="true">
                <a:solidFill>
                  <a:srgbClr val="000000"/>
                </a:solidFill>
                <a:latin typeface="Times New Roman Bold Italics"/>
                <a:ea typeface="Times New Roman Bold Italics"/>
                <a:cs typeface="Times New Roman Bold Italics"/>
                <a:sym typeface="Times New Roman Bold Italics"/>
              </a:rPr>
              <a:t>REAL TIME DATABASE </a:t>
            </a:r>
          </a:p>
          <a:p>
            <a:pPr algn="l">
              <a:lnSpc>
                <a:spcPts val="4192"/>
              </a:lnSpc>
            </a:pPr>
          </a:p>
          <a:p>
            <a:pPr algn="l">
              <a:lnSpc>
                <a:spcPts val="4192"/>
              </a:lnSpc>
            </a:pPr>
          </a:p>
          <a:p>
            <a:pPr algn="l">
              <a:lnSpc>
                <a:spcPts val="4232"/>
              </a:lnSpc>
            </a:pPr>
            <a:r>
              <a:rPr lang="en-US" sz="3023" b="true">
                <a:solidFill>
                  <a:srgbClr val="000000"/>
                </a:solidFill>
                <a:latin typeface="Times New Roman Bold"/>
                <a:ea typeface="Times New Roman Bold"/>
                <a:cs typeface="Times New Roman Bold"/>
                <a:sym typeface="Times New Roman Bold"/>
              </a:rPr>
              <a:t> </a:t>
            </a:r>
          </a:p>
          <a:p>
            <a:pPr algn="l">
              <a:lnSpc>
                <a:spcPts val="4232"/>
              </a:lnSpc>
            </a:pPr>
          </a:p>
          <a:p>
            <a:pPr algn="l">
              <a:lnSpc>
                <a:spcPts val="3385"/>
              </a:lnSpc>
            </a:pPr>
          </a:p>
          <a:p>
            <a:pPr algn="l">
              <a:lnSpc>
                <a:spcPts val="4232"/>
              </a:lnSpc>
            </a:pPr>
          </a:p>
          <a:p>
            <a:pPr algn="l">
              <a:lnSpc>
                <a:spcPts val="4232"/>
              </a:lnSpc>
            </a:pPr>
          </a:p>
          <a:p>
            <a:pPr algn="l">
              <a:lnSpc>
                <a:spcPts val="4232"/>
              </a:lnSpc>
            </a:pPr>
          </a:p>
          <a:p>
            <a:pPr algn="l">
              <a:lnSpc>
                <a:spcPts val="4232"/>
              </a:lnSpc>
            </a:pPr>
          </a:p>
          <a:p>
            <a:pPr algn="l">
              <a:lnSpc>
                <a:spcPts val="6301"/>
              </a:lnSpc>
            </a:pPr>
            <a:r>
              <a:rPr lang="en-US" b="true" sz="4501" i="true">
                <a:solidFill>
                  <a:srgbClr val="000000"/>
                </a:solidFill>
                <a:latin typeface="Times New Roman Bold Italics"/>
                <a:ea typeface="Times New Roman Bold Italics"/>
                <a:cs typeface="Times New Roman Bold Italics"/>
                <a:sym typeface="Times New Roman Bold Italics"/>
              </a:rPr>
              <a:t>    </a:t>
            </a:r>
          </a:p>
          <a:p>
            <a:pPr algn="l">
              <a:lnSpc>
                <a:spcPts val="6301"/>
              </a:lnSpc>
            </a:pPr>
          </a:p>
          <a:p>
            <a:pPr algn="l">
              <a:lnSpc>
                <a:spcPts val="6301"/>
              </a:lnSpc>
            </a:pPr>
          </a:p>
          <a:p>
            <a:pPr algn="l">
              <a:lnSpc>
                <a:spcPts val="6529"/>
              </a:lnSpc>
            </a:pPr>
          </a:p>
          <a:p>
            <a:pPr algn="l">
              <a:lnSpc>
                <a:spcPts val="10202"/>
              </a:lnSpc>
            </a:pPr>
          </a:p>
        </p:txBody>
      </p:sp>
      <p:grpSp>
        <p:nvGrpSpPr>
          <p:cNvPr name="Group 13" id="13"/>
          <p:cNvGrpSpPr/>
          <p:nvPr/>
        </p:nvGrpSpPr>
        <p:grpSpPr>
          <a:xfrm rot="0">
            <a:off x="0" y="0"/>
            <a:ext cx="1028700" cy="10287000"/>
            <a:chOff x="0" y="0"/>
            <a:chExt cx="270933" cy="2709333"/>
          </a:xfrm>
        </p:grpSpPr>
        <p:sp>
          <p:nvSpPr>
            <p:cNvPr name="Freeform 14" id="14"/>
            <p:cNvSpPr/>
            <p:nvPr/>
          </p:nvSpPr>
          <p:spPr>
            <a:xfrm flipH="false" flipV="false" rot="0">
              <a:off x="0" y="0"/>
              <a:ext cx="270933" cy="2709333"/>
            </a:xfrm>
            <a:custGeom>
              <a:avLst/>
              <a:gdLst/>
              <a:ahLst/>
              <a:cxnLst/>
              <a:rect r="r" b="b" t="t" l="l"/>
              <a:pathLst>
                <a:path h="2709333" w="270933">
                  <a:moveTo>
                    <a:pt x="0" y="0"/>
                  </a:moveTo>
                  <a:lnTo>
                    <a:pt x="270933" y="0"/>
                  </a:lnTo>
                  <a:lnTo>
                    <a:pt x="270933" y="2709333"/>
                  </a:lnTo>
                  <a:lnTo>
                    <a:pt x="0" y="2709333"/>
                  </a:lnTo>
                  <a:close/>
                </a:path>
              </a:pathLst>
            </a:custGeom>
            <a:solidFill>
              <a:srgbClr val="875A7A"/>
            </a:solidFill>
          </p:spPr>
        </p:sp>
        <p:sp>
          <p:nvSpPr>
            <p:cNvPr name="TextBox 15" id="15"/>
            <p:cNvSpPr txBox="true"/>
            <p:nvPr/>
          </p:nvSpPr>
          <p:spPr>
            <a:xfrm>
              <a:off x="0" y="-85725"/>
              <a:ext cx="270933" cy="2795058"/>
            </a:xfrm>
            <a:prstGeom prst="rect">
              <a:avLst/>
            </a:prstGeom>
          </p:spPr>
          <p:txBody>
            <a:bodyPr anchor="ctr" rtlCol="false" tIns="50800" lIns="50800" bIns="50800" rIns="50800"/>
            <a:lstStyle/>
            <a:p>
              <a:pPr algn="ctr">
                <a:lnSpc>
                  <a:spcPts val="2479"/>
                </a:lnSpc>
              </a:pPr>
            </a:p>
          </p:txBody>
        </p:sp>
      </p:grpSp>
      <p:sp>
        <p:nvSpPr>
          <p:cNvPr name="TextBox 16" id="16"/>
          <p:cNvSpPr txBox="true"/>
          <p:nvPr/>
        </p:nvSpPr>
        <p:spPr>
          <a:xfrm rot="0">
            <a:off x="1298495" y="1464361"/>
            <a:ext cx="14348390" cy="8939849"/>
          </a:xfrm>
          <a:prstGeom prst="rect">
            <a:avLst/>
          </a:prstGeom>
        </p:spPr>
        <p:txBody>
          <a:bodyPr anchor="t" rtlCol="false" tIns="0" lIns="0" bIns="0" rIns="0">
            <a:spAutoFit/>
          </a:bodyPr>
          <a:lstStyle/>
          <a:p>
            <a:pPr algn="l" marL="561334" indent="-280667" lvl="1">
              <a:lnSpc>
                <a:spcPts val="4029"/>
              </a:lnSpc>
              <a:buFont typeface="Arial"/>
              <a:buChar char="•"/>
            </a:pPr>
            <a:r>
              <a:rPr lang="en-US" b="true" sz="2599">
                <a:solidFill>
                  <a:srgbClr val="000000"/>
                </a:solidFill>
                <a:latin typeface="Times New Roman Medium"/>
                <a:ea typeface="Times New Roman Medium"/>
                <a:cs typeface="Times New Roman Medium"/>
                <a:sym typeface="Times New Roman Medium"/>
              </a:rPr>
              <a:t>We use Firebase Realtime Database to store and manage user tasks in our app.</a:t>
            </a:r>
          </a:p>
          <a:p>
            <a:pPr algn="l">
              <a:lnSpc>
                <a:spcPts val="4029"/>
              </a:lnSpc>
            </a:pPr>
          </a:p>
          <a:p>
            <a:pPr algn="l" marL="582924" indent="-291462" lvl="1">
              <a:lnSpc>
                <a:spcPts val="4184"/>
              </a:lnSpc>
              <a:buFont typeface="Arial"/>
              <a:buChar char="•"/>
            </a:pPr>
            <a:r>
              <a:rPr lang="en-US" b="true" sz="2699">
                <a:solidFill>
                  <a:srgbClr val="000000"/>
                </a:solidFill>
                <a:latin typeface="Times New Roman Bold"/>
                <a:ea typeface="Times New Roman Bold"/>
                <a:cs typeface="Times New Roman Bold"/>
                <a:sym typeface="Times New Roman Bold"/>
              </a:rPr>
              <a:t>Why Firebase?</a:t>
            </a:r>
          </a:p>
          <a:p>
            <a:pPr algn="l">
              <a:lnSpc>
                <a:spcPts val="3409"/>
              </a:lnSpc>
            </a:pPr>
          </a:p>
          <a:p>
            <a:pPr algn="l">
              <a:lnSpc>
                <a:spcPts val="3719"/>
              </a:lnSpc>
              <a:spcBef>
                <a:spcPct val="0"/>
              </a:spcBef>
            </a:pPr>
            <a:r>
              <a:rPr lang="en-US" b="true" sz="2399">
                <a:solidFill>
                  <a:srgbClr val="000000"/>
                </a:solidFill>
                <a:latin typeface="Times New Roman Medium"/>
                <a:ea typeface="Times New Roman Medium"/>
                <a:cs typeface="Times New Roman Medium"/>
                <a:sym typeface="Times New Roman Medium"/>
              </a:rPr>
              <a:t>       </a:t>
            </a:r>
            <a:r>
              <a:rPr lang="en-US" sz="2399">
                <a:solidFill>
                  <a:srgbClr val="000000"/>
                </a:solidFill>
                <a:latin typeface="Times New Roman"/>
                <a:ea typeface="Times New Roman"/>
                <a:cs typeface="Times New Roman"/>
                <a:sym typeface="Times New Roman"/>
              </a:rPr>
              <a:t>- Real-time updates</a:t>
            </a:r>
          </a:p>
          <a:p>
            <a:pPr algn="l">
              <a:lnSpc>
                <a:spcPts val="3719"/>
              </a:lnSpc>
              <a:spcBef>
                <a:spcPct val="0"/>
              </a:spcBef>
            </a:pPr>
            <a:r>
              <a:rPr lang="en-US" sz="2399">
                <a:solidFill>
                  <a:srgbClr val="000000"/>
                </a:solidFill>
                <a:latin typeface="Times New Roman"/>
                <a:ea typeface="Times New Roman"/>
                <a:cs typeface="Times New Roman"/>
                <a:sym typeface="Times New Roman"/>
              </a:rPr>
              <a:t>       - Easy to use with Android</a:t>
            </a:r>
          </a:p>
          <a:p>
            <a:pPr algn="l">
              <a:lnSpc>
                <a:spcPts val="3719"/>
              </a:lnSpc>
              <a:spcBef>
                <a:spcPct val="0"/>
              </a:spcBef>
            </a:pPr>
            <a:r>
              <a:rPr lang="en-US" sz="2399">
                <a:solidFill>
                  <a:srgbClr val="000000"/>
                </a:solidFill>
                <a:latin typeface="Times New Roman"/>
                <a:ea typeface="Times New Roman"/>
                <a:cs typeface="Times New Roman"/>
                <a:sym typeface="Times New Roman"/>
              </a:rPr>
              <a:t>       - No need for complex SQL queries</a:t>
            </a:r>
          </a:p>
          <a:p>
            <a:pPr algn="l">
              <a:lnSpc>
                <a:spcPts val="3409"/>
              </a:lnSpc>
              <a:spcBef>
                <a:spcPct val="0"/>
              </a:spcBef>
            </a:pPr>
          </a:p>
          <a:p>
            <a:pPr algn="l" marL="582924" indent="-291462" lvl="1">
              <a:lnSpc>
                <a:spcPts val="4184"/>
              </a:lnSpc>
              <a:buFont typeface="Arial"/>
              <a:buChar char="•"/>
            </a:pPr>
            <a:r>
              <a:rPr lang="en-US" b="true" sz="2699">
                <a:solidFill>
                  <a:srgbClr val="000000"/>
                </a:solidFill>
                <a:latin typeface="Times New Roman Bold"/>
                <a:ea typeface="Times New Roman Bold"/>
                <a:cs typeface="Times New Roman Bold"/>
                <a:sym typeface="Times New Roman Bold"/>
              </a:rPr>
              <a:t>  How it works:</a:t>
            </a:r>
          </a:p>
          <a:p>
            <a:pPr algn="l">
              <a:lnSpc>
                <a:spcPts val="3409"/>
              </a:lnSpc>
            </a:pPr>
          </a:p>
          <a:p>
            <a:pPr algn="l">
              <a:lnSpc>
                <a:spcPts val="3719"/>
              </a:lnSpc>
              <a:spcBef>
                <a:spcPct val="0"/>
              </a:spcBef>
            </a:pPr>
            <a:r>
              <a:rPr lang="en-US" sz="2399">
                <a:solidFill>
                  <a:srgbClr val="000000"/>
                </a:solidFill>
                <a:latin typeface="Times New Roman"/>
                <a:ea typeface="Times New Roman"/>
                <a:cs typeface="Times New Roman"/>
                <a:sym typeface="Times New Roman"/>
              </a:rPr>
              <a:t> - each task is saved using push() (creates a unique ID)</a:t>
            </a:r>
          </a:p>
          <a:p>
            <a:pPr algn="l">
              <a:lnSpc>
                <a:spcPts val="3719"/>
              </a:lnSpc>
              <a:spcBef>
                <a:spcPct val="0"/>
              </a:spcBef>
            </a:pPr>
            <a:r>
              <a:rPr lang="en-US" sz="2399">
                <a:solidFill>
                  <a:srgbClr val="000000"/>
                </a:solidFill>
                <a:latin typeface="Times New Roman"/>
                <a:ea typeface="Times New Roman"/>
                <a:cs typeface="Times New Roman"/>
                <a:sym typeface="Times New Roman"/>
              </a:rPr>
              <a:t> - each task includes:</a:t>
            </a:r>
          </a:p>
          <a:p>
            <a:pPr algn="l" marL="1036310" indent="-345437" lvl="2">
              <a:lnSpc>
                <a:spcPts val="3719"/>
              </a:lnSpc>
              <a:spcBef>
                <a:spcPct val="0"/>
              </a:spcBef>
              <a:buFont typeface="Arial"/>
              <a:buChar char="⚬"/>
            </a:pPr>
            <a:r>
              <a:rPr lang="en-US" sz="2399">
                <a:solidFill>
                  <a:srgbClr val="000000"/>
                </a:solidFill>
                <a:latin typeface="Times New Roman"/>
                <a:ea typeface="Times New Roman"/>
                <a:cs typeface="Times New Roman"/>
                <a:sym typeface="Times New Roman"/>
              </a:rPr>
              <a:t>taskName – Task title</a:t>
            </a:r>
          </a:p>
          <a:p>
            <a:pPr algn="l" marL="1036310" indent="-345437" lvl="2">
              <a:lnSpc>
                <a:spcPts val="3719"/>
              </a:lnSpc>
              <a:spcBef>
                <a:spcPct val="0"/>
              </a:spcBef>
              <a:buFont typeface="Arial"/>
              <a:buChar char="⚬"/>
            </a:pPr>
            <a:r>
              <a:rPr lang="en-US" sz="2399">
                <a:solidFill>
                  <a:srgbClr val="000000"/>
                </a:solidFill>
                <a:latin typeface="Times New Roman"/>
                <a:ea typeface="Times New Roman"/>
                <a:cs typeface="Times New Roman"/>
                <a:sym typeface="Times New Roman"/>
              </a:rPr>
              <a:t>taskDetails – Task description</a:t>
            </a:r>
          </a:p>
          <a:p>
            <a:pPr algn="l" marL="1036310" indent="-345437" lvl="2">
              <a:lnSpc>
                <a:spcPts val="3719"/>
              </a:lnSpc>
              <a:spcBef>
                <a:spcPct val="0"/>
              </a:spcBef>
              <a:buFont typeface="Arial"/>
              <a:buChar char="⚬"/>
            </a:pPr>
            <a:r>
              <a:rPr lang="en-US" sz="2399">
                <a:solidFill>
                  <a:srgbClr val="000000"/>
                </a:solidFill>
                <a:latin typeface="Times New Roman"/>
                <a:ea typeface="Times New Roman"/>
                <a:cs typeface="Times New Roman"/>
                <a:sym typeface="Times New Roman"/>
              </a:rPr>
              <a:t>dateTime – Selected date and time</a:t>
            </a:r>
          </a:p>
          <a:p>
            <a:pPr algn="l" marL="1036310" indent="-345437" lvl="2">
              <a:lnSpc>
                <a:spcPts val="3719"/>
              </a:lnSpc>
              <a:spcBef>
                <a:spcPct val="0"/>
              </a:spcBef>
              <a:buFont typeface="Arial"/>
              <a:buChar char="⚬"/>
            </a:pPr>
            <a:r>
              <a:rPr lang="en-US" sz="2399">
                <a:solidFill>
                  <a:srgbClr val="000000"/>
                </a:solidFill>
                <a:latin typeface="Times New Roman"/>
                <a:ea typeface="Times New Roman"/>
                <a:cs typeface="Times New Roman"/>
                <a:sym typeface="Times New Roman"/>
              </a:rPr>
              <a:t>taskType – Input method (Voice/Text)</a:t>
            </a:r>
          </a:p>
          <a:p>
            <a:pPr algn="l">
              <a:lnSpc>
                <a:spcPts val="3719"/>
              </a:lnSpc>
            </a:pPr>
            <a:r>
              <a:rPr lang="en-US" b="true" sz="2399">
                <a:solidFill>
                  <a:srgbClr val="000000"/>
                </a:solidFill>
                <a:latin typeface="Times New Roman Medium"/>
                <a:ea typeface="Times New Roman Medium"/>
                <a:cs typeface="Times New Roman Medium"/>
                <a:sym typeface="Times New Roman Medium"/>
              </a:rPr>
              <a:t>These fields help us organize tasks and show them correctly in the app and on the smart mirror.</a:t>
            </a:r>
          </a:p>
          <a:p>
            <a:pPr algn="l">
              <a:lnSpc>
                <a:spcPts val="3564"/>
              </a:lnSpc>
              <a:spcBef>
                <a:spcPct val="0"/>
              </a:spcBef>
            </a:pPr>
          </a:p>
          <a:p>
            <a:pPr algn="l">
              <a:lnSpc>
                <a:spcPts val="3564"/>
              </a:lnSpc>
              <a:spcBef>
                <a:spcPct val="0"/>
              </a:spcBef>
            </a:pPr>
          </a:p>
        </p:txBody>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17213342" y="2701178"/>
            <a:ext cx="4758515" cy="47585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8" id="8"/>
          <p:cNvGrpSpPr/>
          <p:nvPr/>
        </p:nvGrpSpPr>
        <p:grpSpPr>
          <a:xfrm rot="0">
            <a:off x="16666443" y="656036"/>
            <a:ext cx="1241303" cy="575606"/>
            <a:chOff x="0" y="0"/>
            <a:chExt cx="326928" cy="151600"/>
          </a:xfrm>
        </p:grpSpPr>
        <p:sp>
          <p:nvSpPr>
            <p:cNvPr name="Freeform 9" id="9"/>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0" id="10"/>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1" id="11"/>
          <p:cNvSpPr/>
          <p:nvPr/>
        </p:nvSpPr>
        <p:spPr>
          <a:xfrm flipH="false" flipV="false" rot="0">
            <a:off x="16942528" y="793769"/>
            <a:ext cx="633545" cy="300142"/>
          </a:xfrm>
          <a:custGeom>
            <a:avLst/>
            <a:gdLst/>
            <a:ahLst/>
            <a:cxnLst/>
            <a:rect r="r" b="b" t="t" l="l"/>
            <a:pathLst>
              <a:path h="300142" w="633545">
                <a:moveTo>
                  <a:pt x="0" y="0"/>
                </a:moveTo>
                <a:lnTo>
                  <a:pt x="633544" y="0"/>
                </a:lnTo>
                <a:lnTo>
                  <a:pt x="633544"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643553" y="186257"/>
            <a:ext cx="15569790" cy="9781136"/>
          </a:xfrm>
          <a:prstGeom prst="rect">
            <a:avLst/>
          </a:prstGeom>
        </p:spPr>
        <p:txBody>
          <a:bodyPr anchor="t" rtlCol="false" tIns="0" lIns="0" bIns="0" rIns="0">
            <a:spAutoFit/>
          </a:bodyPr>
          <a:lstStyle/>
          <a:p>
            <a:pPr algn="ctr">
              <a:lnSpc>
                <a:spcPts val="4612"/>
              </a:lnSpc>
            </a:pPr>
            <a:r>
              <a:rPr lang="en-US" b="true" sz="3294" i="true">
                <a:solidFill>
                  <a:srgbClr val="000000"/>
                </a:solidFill>
                <a:latin typeface="Times New Roman Bold Italics"/>
                <a:ea typeface="Times New Roman Bold Italics"/>
                <a:cs typeface="Times New Roman Bold Italics"/>
                <a:sym typeface="Times New Roman Bold Italics"/>
              </a:rPr>
              <a:t>REAL TIME DATABASE </a:t>
            </a:r>
          </a:p>
          <a:p>
            <a:pPr algn="l">
              <a:lnSpc>
                <a:spcPts val="4192"/>
              </a:lnSpc>
            </a:pPr>
          </a:p>
          <a:p>
            <a:pPr algn="l">
              <a:lnSpc>
                <a:spcPts val="4192"/>
              </a:lnSpc>
            </a:pPr>
          </a:p>
          <a:p>
            <a:pPr algn="l">
              <a:lnSpc>
                <a:spcPts val="4232"/>
              </a:lnSpc>
            </a:pPr>
            <a:r>
              <a:rPr lang="en-US" sz="3023" b="true">
                <a:solidFill>
                  <a:srgbClr val="000000"/>
                </a:solidFill>
                <a:latin typeface="Times New Roman Bold"/>
                <a:ea typeface="Times New Roman Bold"/>
                <a:cs typeface="Times New Roman Bold"/>
                <a:sym typeface="Times New Roman Bold"/>
              </a:rPr>
              <a:t> </a:t>
            </a:r>
          </a:p>
          <a:p>
            <a:pPr algn="l">
              <a:lnSpc>
                <a:spcPts val="4232"/>
              </a:lnSpc>
            </a:pPr>
          </a:p>
          <a:p>
            <a:pPr algn="l">
              <a:lnSpc>
                <a:spcPts val="3385"/>
              </a:lnSpc>
            </a:pPr>
          </a:p>
          <a:p>
            <a:pPr algn="l">
              <a:lnSpc>
                <a:spcPts val="4232"/>
              </a:lnSpc>
            </a:pPr>
          </a:p>
          <a:p>
            <a:pPr algn="l">
              <a:lnSpc>
                <a:spcPts val="4232"/>
              </a:lnSpc>
            </a:pPr>
          </a:p>
          <a:p>
            <a:pPr algn="l">
              <a:lnSpc>
                <a:spcPts val="4232"/>
              </a:lnSpc>
            </a:pPr>
          </a:p>
          <a:p>
            <a:pPr algn="l">
              <a:lnSpc>
                <a:spcPts val="4232"/>
              </a:lnSpc>
            </a:pPr>
          </a:p>
          <a:p>
            <a:pPr algn="l">
              <a:lnSpc>
                <a:spcPts val="6301"/>
              </a:lnSpc>
            </a:pPr>
            <a:r>
              <a:rPr lang="en-US" b="true" sz="4501" i="true">
                <a:solidFill>
                  <a:srgbClr val="000000"/>
                </a:solidFill>
                <a:latin typeface="Times New Roman Bold Italics"/>
                <a:ea typeface="Times New Roman Bold Italics"/>
                <a:cs typeface="Times New Roman Bold Italics"/>
                <a:sym typeface="Times New Roman Bold Italics"/>
              </a:rPr>
              <a:t>    </a:t>
            </a:r>
          </a:p>
          <a:p>
            <a:pPr algn="l">
              <a:lnSpc>
                <a:spcPts val="6301"/>
              </a:lnSpc>
            </a:pPr>
          </a:p>
          <a:p>
            <a:pPr algn="l">
              <a:lnSpc>
                <a:spcPts val="6301"/>
              </a:lnSpc>
            </a:pPr>
          </a:p>
          <a:p>
            <a:pPr algn="l">
              <a:lnSpc>
                <a:spcPts val="6529"/>
              </a:lnSpc>
            </a:pPr>
          </a:p>
          <a:p>
            <a:pPr algn="l">
              <a:lnSpc>
                <a:spcPts val="10202"/>
              </a:lnSpc>
            </a:pPr>
          </a:p>
        </p:txBody>
      </p:sp>
      <p:grpSp>
        <p:nvGrpSpPr>
          <p:cNvPr name="Group 13" id="13"/>
          <p:cNvGrpSpPr/>
          <p:nvPr/>
        </p:nvGrpSpPr>
        <p:grpSpPr>
          <a:xfrm rot="0">
            <a:off x="0" y="0"/>
            <a:ext cx="1028700" cy="10287000"/>
            <a:chOff x="0" y="0"/>
            <a:chExt cx="270933" cy="2709333"/>
          </a:xfrm>
        </p:grpSpPr>
        <p:sp>
          <p:nvSpPr>
            <p:cNvPr name="Freeform 14" id="14"/>
            <p:cNvSpPr/>
            <p:nvPr/>
          </p:nvSpPr>
          <p:spPr>
            <a:xfrm flipH="false" flipV="false" rot="0">
              <a:off x="0" y="0"/>
              <a:ext cx="270933" cy="2709333"/>
            </a:xfrm>
            <a:custGeom>
              <a:avLst/>
              <a:gdLst/>
              <a:ahLst/>
              <a:cxnLst/>
              <a:rect r="r" b="b" t="t" l="l"/>
              <a:pathLst>
                <a:path h="2709333" w="270933">
                  <a:moveTo>
                    <a:pt x="0" y="0"/>
                  </a:moveTo>
                  <a:lnTo>
                    <a:pt x="270933" y="0"/>
                  </a:lnTo>
                  <a:lnTo>
                    <a:pt x="270933" y="2709333"/>
                  </a:lnTo>
                  <a:lnTo>
                    <a:pt x="0" y="2709333"/>
                  </a:lnTo>
                  <a:close/>
                </a:path>
              </a:pathLst>
            </a:custGeom>
            <a:solidFill>
              <a:srgbClr val="875A7A"/>
            </a:solidFill>
          </p:spPr>
        </p:sp>
        <p:sp>
          <p:nvSpPr>
            <p:cNvPr name="TextBox 15" id="15"/>
            <p:cNvSpPr txBox="true"/>
            <p:nvPr/>
          </p:nvSpPr>
          <p:spPr>
            <a:xfrm>
              <a:off x="0" y="-85725"/>
              <a:ext cx="270933" cy="2795058"/>
            </a:xfrm>
            <a:prstGeom prst="rect">
              <a:avLst/>
            </a:prstGeom>
          </p:spPr>
          <p:txBody>
            <a:bodyPr anchor="ctr" rtlCol="false" tIns="50800" lIns="50800" bIns="50800" rIns="50800"/>
            <a:lstStyle/>
            <a:p>
              <a:pPr algn="ctr">
                <a:lnSpc>
                  <a:spcPts val="2479"/>
                </a:lnSpc>
              </a:pPr>
            </a:p>
          </p:txBody>
        </p:sp>
      </p:grpSp>
      <p:sp>
        <p:nvSpPr>
          <p:cNvPr name="TextBox 16" id="16"/>
          <p:cNvSpPr txBox="true"/>
          <p:nvPr/>
        </p:nvSpPr>
        <p:spPr>
          <a:xfrm rot="0">
            <a:off x="1298495" y="636269"/>
            <a:ext cx="12965418" cy="5907406"/>
          </a:xfrm>
          <a:prstGeom prst="rect">
            <a:avLst/>
          </a:prstGeom>
        </p:spPr>
        <p:txBody>
          <a:bodyPr anchor="t" rtlCol="false" tIns="0" lIns="0" bIns="0" rIns="0">
            <a:spAutoFit/>
          </a:bodyPr>
          <a:lstStyle/>
          <a:p>
            <a:pPr algn="l">
              <a:lnSpc>
                <a:spcPts val="3254"/>
              </a:lnSpc>
              <a:spcBef>
                <a:spcPct val="0"/>
              </a:spcBef>
            </a:pPr>
          </a:p>
          <a:p>
            <a:pPr algn="l" marL="518155" indent="-259078" lvl="1">
              <a:lnSpc>
                <a:spcPts val="3719"/>
              </a:lnSpc>
              <a:buFont typeface="Arial"/>
              <a:buChar char="•"/>
            </a:pPr>
            <a:r>
              <a:rPr lang="en-US" b="true" sz="2399">
                <a:solidFill>
                  <a:srgbClr val="000000"/>
                </a:solidFill>
                <a:latin typeface="Times New Roman Medium"/>
                <a:ea typeface="Times New Roman Medium"/>
                <a:cs typeface="Times New Roman Medium"/>
                <a:sym typeface="Times New Roman Medium"/>
              </a:rPr>
              <a:t>Code Example:</a:t>
            </a:r>
          </a:p>
          <a:p>
            <a:pPr algn="l">
              <a:lnSpc>
                <a:spcPts val="3254"/>
              </a:lnSpc>
              <a:spcBef>
                <a:spcPct val="0"/>
              </a:spcBef>
            </a:pPr>
          </a:p>
          <a:p>
            <a:pPr algn="l">
              <a:lnSpc>
                <a:spcPts val="3254"/>
              </a:lnSpc>
              <a:spcBef>
                <a:spcPct val="0"/>
              </a:spcBef>
            </a:pPr>
          </a:p>
          <a:p>
            <a:pPr algn="l">
              <a:lnSpc>
                <a:spcPts val="3254"/>
              </a:lnSpc>
              <a:spcBef>
                <a:spcPct val="0"/>
              </a:spcBef>
            </a:pPr>
          </a:p>
          <a:p>
            <a:pPr algn="l">
              <a:lnSpc>
                <a:spcPts val="3254"/>
              </a:lnSpc>
              <a:spcBef>
                <a:spcPct val="0"/>
              </a:spcBef>
            </a:pPr>
          </a:p>
          <a:p>
            <a:pPr algn="l">
              <a:lnSpc>
                <a:spcPts val="3254"/>
              </a:lnSpc>
              <a:spcBef>
                <a:spcPct val="0"/>
              </a:spcBef>
            </a:pPr>
          </a:p>
          <a:p>
            <a:pPr algn="l">
              <a:lnSpc>
                <a:spcPts val="3254"/>
              </a:lnSpc>
              <a:spcBef>
                <a:spcPct val="0"/>
              </a:spcBef>
            </a:pPr>
          </a:p>
          <a:p>
            <a:pPr algn="l" marL="518155" indent="-259078" lvl="1">
              <a:lnSpc>
                <a:spcPts val="3719"/>
              </a:lnSpc>
              <a:buFont typeface="Arial"/>
              <a:buChar char="•"/>
            </a:pPr>
            <a:r>
              <a:rPr lang="en-US" b="true" sz="2399">
                <a:solidFill>
                  <a:srgbClr val="000000"/>
                </a:solidFill>
                <a:latin typeface="Times New Roman Medium"/>
                <a:ea typeface="Times New Roman Medium"/>
                <a:cs typeface="Times New Roman Medium"/>
                <a:sym typeface="Times New Roman Medium"/>
              </a:rPr>
              <a:t>Firebase Structure:</a:t>
            </a:r>
          </a:p>
          <a:p>
            <a:pPr algn="l">
              <a:lnSpc>
                <a:spcPts val="3409"/>
              </a:lnSpc>
            </a:pPr>
            <a:r>
              <a:rPr lang="en-US" b="true" sz="2199">
                <a:solidFill>
                  <a:srgbClr val="000000"/>
                </a:solidFill>
                <a:latin typeface="Times New Roman Medium"/>
                <a:ea typeface="Times New Roman Medium"/>
                <a:cs typeface="Times New Roman Medium"/>
                <a:sym typeface="Times New Roman Medium"/>
              </a:rPr>
              <a:t>      </a:t>
            </a:r>
            <a:r>
              <a:rPr lang="en-US" b="true" sz="2199">
                <a:solidFill>
                  <a:srgbClr val="000000"/>
                </a:solidFill>
                <a:latin typeface="Times New Roman Medium"/>
                <a:ea typeface="Times New Roman Medium"/>
                <a:cs typeface="Times New Roman Medium"/>
                <a:sym typeface="Times New Roman Medium"/>
              </a:rPr>
              <a:t>-</a:t>
            </a:r>
            <a:r>
              <a:rPr lang="en-US" sz="2199">
                <a:solidFill>
                  <a:srgbClr val="000000"/>
                </a:solidFill>
                <a:latin typeface="Times New Roman"/>
                <a:ea typeface="Times New Roman"/>
                <a:cs typeface="Times New Roman"/>
                <a:sym typeface="Times New Roman"/>
              </a:rPr>
              <a:t> Tasks are stored using a simple key-value format</a:t>
            </a:r>
          </a:p>
          <a:p>
            <a:pPr algn="l">
              <a:lnSpc>
                <a:spcPts val="3409"/>
              </a:lnSpc>
            </a:pPr>
            <a:r>
              <a:rPr lang="en-US" sz="2199">
                <a:solidFill>
                  <a:srgbClr val="000000"/>
                </a:solidFill>
                <a:latin typeface="Times New Roman"/>
                <a:ea typeface="Times New Roman"/>
                <a:cs typeface="Times New Roman"/>
                <a:sym typeface="Times New Roman"/>
              </a:rPr>
              <a:t>      - Each task has a unique key under the "tasks"</a:t>
            </a:r>
          </a:p>
          <a:p>
            <a:pPr algn="l">
              <a:lnSpc>
                <a:spcPts val="3254"/>
              </a:lnSpc>
            </a:pPr>
          </a:p>
          <a:p>
            <a:pPr algn="l">
              <a:lnSpc>
                <a:spcPts val="3254"/>
              </a:lnSpc>
            </a:pPr>
          </a:p>
          <a:p>
            <a:pPr algn="l">
              <a:lnSpc>
                <a:spcPts val="3254"/>
              </a:lnSpc>
              <a:spcBef>
                <a:spcPct val="0"/>
              </a:spcBef>
            </a:pPr>
          </a:p>
        </p:txBody>
      </p:sp>
      <p:sp>
        <p:nvSpPr>
          <p:cNvPr name="Freeform 17" id="17"/>
          <p:cNvSpPr/>
          <p:nvPr/>
        </p:nvSpPr>
        <p:spPr>
          <a:xfrm flipH="false" flipV="false" rot="0">
            <a:off x="1298495" y="1895815"/>
            <a:ext cx="11301259" cy="1271392"/>
          </a:xfrm>
          <a:custGeom>
            <a:avLst/>
            <a:gdLst/>
            <a:ahLst/>
            <a:cxnLst/>
            <a:rect r="r" b="b" t="t" l="l"/>
            <a:pathLst>
              <a:path h="1271392" w="11301259">
                <a:moveTo>
                  <a:pt x="0" y="0"/>
                </a:moveTo>
                <a:lnTo>
                  <a:pt x="11301259" y="0"/>
                </a:lnTo>
                <a:lnTo>
                  <a:pt x="11301259" y="1271391"/>
                </a:lnTo>
                <a:lnTo>
                  <a:pt x="0" y="1271391"/>
                </a:lnTo>
                <a:lnTo>
                  <a:pt x="0" y="0"/>
                </a:lnTo>
                <a:close/>
              </a:path>
            </a:pathLst>
          </a:custGeom>
          <a:blipFill>
            <a:blip r:embed="rId4"/>
            <a:stretch>
              <a:fillRect l="0" t="0" r="0" b="0"/>
            </a:stretch>
          </a:blipFill>
        </p:spPr>
      </p:sp>
      <p:sp>
        <p:nvSpPr>
          <p:cNvPr name="Freeform 18" id="18"/>
          <p:cNvSpPr/>
          <p:nvPr/>
        </p:nvSpPr>
        <p:spPr>
          <a:xfrm flipH="false" flipV="false" rot="0">
            <a:off x="1643553" y="5502133"/>
            <a:ext cx="8465087" cy="4784867"/>
          </a:xfrm>
          <a:custGeom>
            <a:avLst/>
            <a:gdLst/>
            <a:ahLst/>
            <a:cxnLst/>
            <a:rect r="r" b="b" t="t" l="l"/>
            <a:pathLst>
              <a:path h="4784867" w="8465087">
                <a:moveTo>
                  <a:pt x="0" y="0"/>
                </a:moveTo>
                <a:lnTo>
                  <a:pt x="8465087" y="0"/>
                </a:lnTo>
                <a:lnTo>
                  <a:pt x="8465087" y="4784867"/>
                </a:lnTo>
                <a:lnTo>
                  <a:pt x="0" y="4784867"/>
                </a:lnTo>
                <a:lnTo>
                  <a:pt x="0" y="0"/>
                </a:lnTo>
                <a:close/>
              </a:path>
            </a:pathLst>
          </a:custGeom>
          <a:blipFill>
            <a:blip r:embed="rId5"/>
            <a:stretch>
              <a:fillRect l="-581" t="0" r="-581" b="0"/>
            </a:stretch>
          </a:blipFill>
        </p:spPr>
      </p:sp>
      <p:sp>
        <p:nvSpPr>
          <p:cNvPr name="TextBox 19" id="1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17213342" y="2701178"/>
            <a:ext cx="4758515" cy="47585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8" id="8"/>
          <p:cNvGrpSpPr/>
          <p:nvPr/>
        </p:nvGrpSpPr>
        <p:grpSpPr>
          <a:xfrm rot="0">
            <a:off x="16666443" y="656036"/>
            <a:ext cx="1241303" cy="575606"/>
            <a:chOff x="0" y="0"/>
            <a:chExt cx="326928" cy="151600"/>
          </a:xfrm>
        </p:grpSpPr>
        <p:sp>
          <p:nvSpPr>
            <p:cNvPr name="Freeform 9" id="9"/>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0" id="10"/>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1" id="11"/>
          <p:cNvSpPr/>
          <p:nvPr/>
        </p:nvSpPr>
        <p:spPr>
          <a:xfrm flipH="false" flipV="false" rot="0">
            <a:off x="16942528" y="793769"/>
            <a:ext cx="633545" cy="300142"/>
          </a:xfrm>
          <a:custGeom>
            <a:avLst/>
            <a:gdLst/>
            <a:ahLst/>
            <a:cxnLst/>
            <a:rect r="r" b="b" t="t" l="l"/>
            <a:pathLst>
              <a:path h="300142" w="633545">
                <a:moveTo>
                  <a:pt x="0" y="0"/>
                </a:moveTo>
                <a:lnTo>
                  <a:pt x="633544" y="0"/>
                </a:lnTo>
                <a:lnTo>
                  <a:pt x="633544"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262080" y="206208"/>
            <a:ext cx="18025920" cy="9746147"/>
          </a:xfrm>
          <a:prstGeom prst="rect">
            <a:avLst/>
          </a:prstGeom>
        </p:spPr>
        <p:txBody>
          <a:bodyPr anchor="t" rtlCol="false" tIns="0" lIns="0" bIns="0" rIns="0">
            <a:spAutoFit/>
          </a:bodyPr>
          <a:lstStyle/>
          <a:p>
            <a:pPr algn="ctr">
              <a:lnSpc>
                <a:spcPts val="4759"/>
              </a:lnSpc>
            </a:pPr>
            <a:r>
              <a:rPr lang="en-US" b="true" sz="3399" i="true">
                <a:solidFill>
                  <a:srgbClr val="000000"/>
                </a:solidFill>
                <a:latin typeface="Times New Roman Bold Italics"/>
                <a:ea typeface="Times New Roman Bold Italics"/>
                <a:cs typeface="Times New Roman Bold Italics"/>
                <a:sym typeface="Times New Roman Bold Italics"/>
              </a:rPr>
              <a:t>PROCEDURES DESCRIPTION</a:t>
            </a:r>
          </a:p>
          <a:p>
            <a:pPr algn="l">
              <a:lnSpc>
                <a:spcPts val="2800"/>
              </a:lnSpc>
            </a:pPr>
          </a:p>
          <a:p>
            <a:pPr algn="l">
              <a:lnSpc>
                <a:spcPts val="4900"/>
              </a:lnSpc>
            </a:pPr>
          </a:p>
          <a:p>
            <a:pPr algn="l">
              <a:lnSpc>
                <a:spcPts val="3920"/>
              </a:lnSpc>
            </a:pPr>
          </a:p>
          <a:p>
            <a:pPr algn="l">
              <a:lnSpc>
                <a:spcPts val="4900"/>
              </a:lnSpc>
            </a:pPr>
          </a:p>
          <a:p>
            <a:pPr algn="l">
              <a:lnSpc>
                <a:spcPts val="4900"/>
              </a:lnSpc>
            </a:pPr>
          </a:p>
          <a:p>
            <a:pPr algn="l">
              <a:lnSpc>
                <a:spcPts val="4900"/>
              </a:lnSpc>
            </a:pPr>
          </a:p>
          <a:p>
            <a:pPr algn="l">
              <a:lnSpc>
                <a:spcPts val="4900"/>
              </a:lnSpc>
            </a:pPr>
          </a:p>
          <a:p>
            <a:pPr algn="l">
              <a:lnSpc>
                <a:spcPts val="7295"/>
              </a:lnSpc>
            </a:pPr>
            <a:r>
              <a:rPr lang="en-US" b="true" sz="5211" i="true">
                <a:solidFill>
                  <a:srgbClr val="000000"/>
                </a:solidFill>
                <a:latin typeface="Times New Roman Bold Italics"/>
                <a:ea typeface="Times New Roman Bold Italics"/>
                <a:cs typeface="Times New Roman Bold Italics"/>
                <a:sym typeface="Times New Roman Bold Italics"/>
              </a:rPr>
              <a:t>    </a:t>
            </a:r>
          </a:p>
          <a:p>
            <a:pPr algn="l">
              <a:lnSpc>
                <a:spcPts val="7295"/>
              </a:lnSpc>
            </a:pPr>
          </a:p>
          <a:p>
            <a:pPr algn="l">
              <a:lnSpc>
                <a:spcPts val="7295"/>
              </a:lnSpc>
            </a:pPr>
          </a:p>
          <a:p>
            <a:pPr algn="l">
              <a:lnSpc>
                <a:spcPts val="7559"/>
              </a:lnSpc>
            </a:pPr>
          </a:p>
          <a:p>
            <a:pPr algn="l">
              <a:lnSpc>
                <a:spcPts val="11811"/>
              </a:lnSpc>
            </a:pPr>
          </a:p>
        </p:txBody>
      </p:sp>
      <p:sp>
        <p:nvSpPr>
          <p:cNvPr name="Freeform 13" id="13"/>
          <p:cNvSpPr/>
          <p:nvPr/>
        </p:nvSpPr>
        <p:spPr>
          <a:xfrm flipH="false" flipV="false" rot="0">
            <a:off x="9558516" y="3704144"/>
            <a:ext cx="8349230" cy="4325910"/>
          </a:xfrm>
          <a:custGeom>
            <a:avLst/>
            <a:gdLst/>
            <a:ahLst/>
            <a:cxnLst/>
            <a:rect r="r" b="b" t="t" l="l"/>
            <a:pathLst>
              <a:path h="4325910" w="8349230">
                <a:moveTo>
                  <a:pt x="0" y="0"/>
                </a:moveTo>
                <a:lnTo>
                  <a:pt x="8349230" y="0"/>
                </a:lnTo>
                <a:lnTo>
                  <a:pt x="8349230" y="4325910"/>
                </a:lnTo>
                <a:lnTo>
                  <a:pt x="0" y="4325910"/>
                </a:lnTo>
                <a:lnTo>
                  <a:pt x="0" y="0"/>
                </a:lnTo>
                <a:close/>
              </a:path>
            </a:pathLst>
          </a:custGeom>
          <a:blipFill>
            <a:blip r:embed="rId4"/>
            <a:stretch>
              <a:fillRect l="0" t="0" r="0" b="0"/>
            </a:stretch>
          </a:blipFill>
        </p:spPr>
      </p:sp>
      <p:sp>
        <p:nvSpPr>
          <p:cNvPr name="Freeform 14" id="14"/>
          <p:cNvSpPr/>
          <p:nvPr/>
        </p:nvSpPr>
        <p:spPr>
          <a:xfrm flipH="false" flipV="false" rot="0">
            <a:off x="262080" y="3704144"/>
            <a:ext cx="9148785" cy="4371223"/>
          </a:xfrm>
          <a:custGeom>
            <a:avLst/>
            <a:gdLst/>
            <a:ahLst/>
            <a:cxnLst/>
            <a:rect r="r" b="b" t="t" l="l"/>
            <a:pathLst>
              <a:path h="4371223" w="9148785">
                <a:moveTo>
                  <a:pt x="0" y="0"/>
                </a:moveTo>
                <a:lnTo>
                  <a:pt x="9148785" y="0"/>
                </a:lnTo>
                <a:lnTo>
                  <a:pt x="9148785" y="4371223"/>
                </a:lnTo>
                <a:lnTo>
                  <a:pt x="0" y="4371223"/>
                </a:lnTo>
                <a:lnTo>
                  <a:pt x="0" y="0"/>
                </a:lnTo>
                <a:close/>
              </a:path>
            </a:pathLst>
          </a:custGeom>
          <a:blipFill>
            <a:blip r:embed="rId5"/>
            <a:stretch>
              <a:fillRect l="0" t="0" r="0" b="0"/>
            </a:stretch>
          </a:blipFill>
        </p:spPr>
      </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17</a:t>
            </a:r>
          </a:p>
        </p:txBody>
      </p:sp>
      <p:sp>
        <p:nvSpPr>
          <p:cNvPr name="TextBox 16" id="16"/>
          <p:cNvSpPr txBox="true"/>
          <p:nvPr/>
        </p:nvSpPr>
        <p:spPr>
          <a:xfrm rot="0">
            <a:off x="262080" y="1398553"/>
            <a:ext cx="17213342" cy="2024381"/>
          </a:xfrm>
          <a:prstGeom prst="rect">
            <a:avLst/>
          </a:prstGeom>
        </p:spPr>
        <p:txBody>
          <a:bodyPr anchor="t" rtlCol="false" tIns="0" lIns="0" bIns="0" rIns="0">
            <a:spAutoFit/>
          </a:bodyPr>
          <a:lstStyle/>
          <a:p>
            <a:pPr algn="l">
              <a:lnSpc>
                <a:spcPts val="3919"/>
              </a:lnSpc>
            </a:pPr>
            <a:r>
              <a:rPr lang="en-US" sz="2799">
                <a:solidFill>
                  <a:srgbClr val="000000"/>
                </a:solidFill>
                <a:latin typeface="Times New Roman"/>
                <a:ea typeface="Times New Roman"/>
                <a:cs typeface="Times New Roman"/>
                <a:sym typeface="Times New Roman"/>
              </a:rPr>
              <a:t>This slide gives an overview of the software and hardware components that are used in the smart mirror system. The software manages task input and data storage, and the hardware manages hands-free operation and real-time task visibility.</a:t>
            </a:r>
          </a:p>
          <a:p>
            <a:pPr algn="l">
              <a:lnSpc>
                <a:spcPts val="3919"/>
              </a:lnSpc>
            </a:pPr>
            <a:r>
              <a:rPr lang="en-US" sz="2799" b="true">
                <a:solidFill>
                  <a:srgbClr val="000000"/>
                </a:solidFill>
                <a:latin typeface="Times New Roman Bold"/>
                <a:ea typeface="Times New Roman Bold"/>
                <a:cs typeface="Times New Roman Bold"/>
                <a:sym typeface="Times New Roman Bold"/>
              </a:rPr>
              <a:t>The following tables give an overview of each component: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17213342" y="2701178"/>
            <a:ext cx="4758515" cy="47585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8" id="8"/>
          <p:cNvGrpSpPr/>
          <p:nvPr/>
        </p:nvGrpSpPr>
        <p:grpSpPr>
          <a:xfrm rot="0">
            <a:off x="16927290" y="282929"/>
            <a:ext cx="1241303" cy="575606"/>
            <a:chOff x="0" y="0"/>
            <a:chExt cx="326928" cy="151600"/>
          </a:xfrm>
        </p:grpSpPr>
        <p:sp>
          <p:nvSpPr>
            <p:cNvPr name="Freeform 9" id="9"/>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0" id="10"/>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1" id="11"/>
          <p:cNvSpPr/>
          <p:nvPr/>
        </p:nvSpPr>
        <p:spPr>
          <a:xfrm flipH="false" flipV="false" rot="0">
            <a:off x="17203374" y="420661"/>
            <a:ext cx="633545" cy="300142"/>
          </a:xfrm>
          <a:custGeom>
            <a:avLst/>
            <a:gdLst/>
            <a:ahLst/>
            <a:cxnLst/>
            <a:rect r="r" b="b" t="t" l="l"/>
            <a:pathLst>
              <a:path h="300142" w="633545">
                <a:moveTo>
                  <a:pt x="0" y="0"/>
                </a:moveTo>
                <a:lnTo>
                  <a:pt x="633545" y="0"/>
                </a:lnTo>
                <a:lnTo>
                  <a:pt x="633545" y="300142"/>
                </a:lnTo>
                <a:lnTo>
                  <a:pt x="0" y="3001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391887" y="100663"/>
            <a:ext cx="16535404" cy="9849912"/>
          </a:xfrm>
          <a:prstGeom prst="rect">
            <a:avLst/>
          </a:prstGeom>
        </p:spPr>
        <p:txBody>
          <a:bodyPr anchor="t" rtlCol="false" tIns="0" lIns="0" bIns="0" rIns="0">
            <a:spAutoFit/>
          </a:bodyPr>
          <a:lstStyle/>
          <a:p>
            <a:pPr algn="ctr">
              <a:lnSpc>
                <a:spcPts val="4797"/>
              </a:lnSpc>
            </a:pPr>
            <a:r>
              <a:rPr lang="en-US" b="true" sz="3427" i="true">
                <a:solidFill>
                  <a:srgbClr val="000000"/>
                </a:solidFill>
                <a:latin typeface="Times New Roman Bold Italics"/>
                <a:ea typeface="Times New Roman Bold Italics"/>
                <a:cs typeface="Times New Roman Bold Italics"/>
                <a:sym typeface="Times New Roman Bold Italics"/>
              </a:rPr>
              <a:t>UNIT TESTING </a:t>
            </a:r>
          </a:p>
          <a:p>
            <a:pPr algn="l">
              <a:lnSpc>
                <a:spcPts val="2568"/>
              </a:lnSpc>
            </a:pPr>
          </a:p>
          <a:p>
            <a:pPr algn="l">
              <a:lnSpc>
                <a:spcPts val="2568"/>
              </a:lnSpc>
            </a:pPr>
          </a:p>
          <a:p>
            <a:pPr algn="l">
              <a:lnSpc>
                <a:spcPts val="4494"/>
              </a:lnSpc>
            </a:pPr>
          </a:p>
          <a:p>
            <a:pPr algn="l">
              <a:lnSpc>
                <a:spcPts val="4494"/>
              </a:lnSpc>
            </a:pPr>
          </a:p>
          <a:p>
            <a:pPr algn="l">
              <a:lnSpc>
                <a:spcPts val="3595"/>
              </a:lnSpc>
            </a:pPr>
          </a:p>
          <a:p>
            <a:pPr algn="l">
              <a:lnSpc>
                <a:spcPts val="4494"/>
              </a:lnSpc>
            </a:pPr>
          </a:p>
          <a:p>
            <a:pPr algn="l">
              <a:lnSpc>
                <a:spcPts val="4494"/>
              </a:lnSpc>
            </a:pPr>
          </a:p>
          <a:p>
            <a:pPr algn="l">
              <a:lnSpc>
                <a:spcPts val="4494"/>
              </a:lnSpc>
            </a:pPr>
          </a:p>
          <a:p>
            <a:pPr algn="l">
              <a:lnSpc>
                <a:spcPts val="4494"/>
              </a:lnSpc>
            </a:pPr>
          </a:p>
          <a:p>
            <a:pPr algn="l">
              <a:lnSpc>
                <a:spcPts val="6692"/>
              </a:lnSpc>
            </a:pPr>
            <a:r>
              <a:rPr lang="en-US" b="true" sz="4780" i="true">
                <a:solidFill>
                  <a:srgbClr val="000000"/>
                </a:solidFill>
                <a:latin typeface="Times New Roman Bold Italics"/>
                <a:ea typeface="Times New Roman Bold Italics"/>
                <a:cs typeface="Times New Roman Bold Italics"/>
                <a:sym typeface="Times New Roman Bold Italics"/>
              </a:rPr>
              <a:t>    </a:t>
            </a:r>
          </a:p>
          <a:p>
            <a:pPr algn="l">
              <a:lnSpc>
                <a:spcPts val="6692"/>
              </a:lnSpc>
            </a:pPr>
          </a:p>
          <a:p>
            <a:pPr algn="l">
              <a:lnSpc>
                <a:spcPts val="6692"/>
              </a:lnSpc>
            </a:pPr>
          </a:p>
          <a:p>
            <a:pPr algn="l">
              <a:lnSpc>
                <a:spcPts val="6934"/>
              </a:lnSpc>
            </a:pPr>
          </a:p>
          <a:p>
            <a:pPr algn="l">
              <a:lnSpc>
                <a:spcPts val="10834"/>
              </a:lnSpc>
            </a:pPr>
          </a:p>
        </p:txBody>
      </p:sp>
      <p:sp>
        <p:nvSpPr>
          <p:cNvPr name="Freeform 13" id="13"/>
          <p:cNvSpPr/>
          <p:nvPr/>
        </p:nvSpPr>
        <p:spPr>
          <a:xfrm flipH="false" flipV="false" rot="0">
            <a:off x="1958348" y="2701178"/>
            <a:ext cx="14450958" cy="6557122"/>
          </a:xfrm>
          <a:custGeom>
            <a:avLst/>
            <a:gdLst/>
            <a:ahLst/>
            <a:cxnLst/>
            <a:rect r="r" b="b" t="t" l="l"/>
            <a:pathLst>
              <a:path h="6557122" w="14450958">
                <a:moveTo>
                  <a:pt x="0" y="0"/>
                </a:moveTo>
                <a:lnTo>
                  <a:pt x="14450957" y="0"/>
                </a:lnTo>
                <a:lnTo>
                  <a:pt x="14450957" y="6557122"/>
                </a:lnTo>
                <a:lnTo>
                  <a:pt x="0" y="6557122"/>
                </a:lnTo>
                <a:lnTo>
                  <a:pt x="0" y="0"/>
                </a:lnTo>
                <a:close/>
              </a:path>
            </a:pathLst>
          </a:custGeom>
          <a:blipFill>
            <a:blip r:embed="rId4"/>
            <a:stretch>
              <a:fillRect l="0" t="0" r="0" b="0"/>
            </a:stretch>
          </a:blipFill>
        </p:spPr>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18</a:t>
            </a:r>
          </a:p>
        </p:txBody>
      </p:sp>
      <p:sp>
        <p:nvSpPr>
          <p:cNvPr name="TextBox 15" id="15"/>
          <p:cNvSpPr txBox="true"/>
          <p:nvPr/>
        </p:nvSpPr>
        <p:spPr>
          <a:xfrm rot="0">
            <a:off x="306804" y="958166"/>
            <a:ext cx="17213342" cy="1529080"/>
          </a:xfrm>
          <a:prstGeom prst="rect">
            <a:avLst/>
          </a:prstGeom>
        </p:spPr>
        <p:txBody>
          <a:bodyPr anchor="t" rtlCol="false" tIns="0" lIns="0" bIns="0" rIns="0">
            <a:spAutoFit/>
          </a:bodyPr>
          <a:lstStyle/>
          <a:p>
            <a:pPr algn="l">
              <a:lnSpc>
                <a:spcPts val="3919"/>
              </a:lnSpc>
            </a:pPr>
            <a:r>
              <a:rPr lang="en-US" sz="2799">
                <a:solidFill>
                  <a:srgbClr val="000000"/>
                </a:solidFill>
                <a:latin typeface="Times New Roman"/>
                <a:ea typeface="Times New Roman"/>
                <a:cs typeface="Times New Roman"/>
                <a:sym typeface="Times New Roman"/>
              </a:rPr>
              <a:t>The result of unit testing is shown in the table below. each part of the system was tested separately, for example, the voice page, text page, database, Firebase integration, ultrasonic sensor, and mirror display, all passed successfully.</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17213342" y="2701178"/>
            <a:ext cx="4758515" cy="47585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8" id="8"/>
          <p:cNvGrpSpPr/>
          <p:nvPr/>
        </p:nvGrpSpPr>
        <p:grpSpPr>
          <a:xfrm rot="0">
            <a:off x="16666443" y="656036"/>
            <a:ext cx="1241303" cy="575606"/>
            <a:chOff x="0" y="0"/>
            <a:chExt cx="326928" cy="151600"/>
          </a:xfrm>
        </p:grpSpPr>
        <p:sp>
          <p:nvSpPr>
            <p:cNvPr name="Freeform 9" id="9"/>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0" id="10"/>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1" id="11"/>
          <p:cNvSpPr/>
          <p:nvPr/>
        </p:nvSpPr>
        <p:spPr>
          <a:xfrm flipH="false" flipV="false" rot="0">
            <a:off x="16942528" y="793769"/>
            <a:ext cx="633545" cy="300142"/>
          </a:xfrm>
          <a:custGeom>
            <a:avLst/>
            <a:gdLst/>
            <a:ahLst/>
            <a:cxnLst/>
            <a:rect r="r" b="b" t="t" l="l"/>
            <a:pathLst>
              <a:path h="300142" w="633545">
                <a:moveTo>
                  <a:pt x="0" y="0"/>
                </a:moveTo>
                <a:lnTo>
                  <a:pt x="633544" y="0"/>
                </a:lnTo>
                <a:lnTo>
                  <a:pt x="633544"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31040" y="206208"/>
            <a:ext cx="18025920" cy="9728367"/>
          </a:xfrm>
          <a:prstGeom prst="rect">
            <a:avLst/>
          </a:prstGeom>
        </p:spPr>
        <p:txBody>
          <a:bodyPr anchor="t" rtlCol="false" tIns="0" lIns="0" bIns="0" rIns="0">
            <a:spAutoFit/>
          </a:bodyPr>
          <a:lstStyle/>
          <a:p>
            <a:pPr algn="ctr">
              <a:lnSpc>
                <a:spcPts val="4619"/>
              </a:lnSpc>
            </a:pPr>
            <a:r>
              <a:rPr lang="en-US" b="true" sz="3299" i="true">
                <a:solidFill>
                  <a:srgbClr val="000000"/>
                </a:solidFill>
                <a:latin typeface="Times New Roman Bold Italics"/>
                <a:ea typeface="Times New Roman Bold Italics"/>
                <a:cs typeface="Times New Roman Bold Italics"/>
                <a:sym typeface="Times New Roman Bold Italics"/>
              </a:rPr>
              <a:t>INTEGRATION TESTING</a:t>
            </a:r>
          </a:p>
          <a:p>
            <a:pPr algn="l">
              <a:lnSpc>
                <a:spcPts val="2800"/>
              </a:lnSpc>
            </a:pPr>
          </a:p>
          <a:p>
            <a:pPr algn="l">
              <a:lnSpc>
                <a:spcPts val="4900"/>
              </a:lnSpc>
            </a:pPr>
          </a:p>
          <a:p>
            <a:pPr algn="l">
              <a:lnSpc>
                <a:spcPts val="3920"/>
              </a:lnSpc>
            </a:pPr>
          </a:p>
          <a:p>
            <a:pPr algn="l">
              <a:lnSpc>
                <a:spcPts val="4900"/>
              </a:lnSpc>
            </a:pPr>
          </a:p>
          <a:p>
            <a:pPr algn="l">
              <a:lnSpc>
                <a:spcPts val="4900"/>
              </a:lnSpc>
            </a:pPr>
          </a:p>
          <a:p>
            <a:pPr algn="l">
              <a:lnSpc>
                <a:spcPts val="4900"/>
              </a:lnSpc>
            </a:pPr>
          </a:p>
          <a:p>
            <a:pPr algn="l">
              <a:lnSpc>
                <a:spcPts val="4900"/>
              </a:lnSpc>
            </a:pPr>
          </a:p>
          <a:p>
            <a:pPr algn="l">
              <a:lnSpc>
                <a:spcPts val="7295"/>
              </a:lnSpc>
            </a:pPr>
            <a:r>
              <a:rPr lang="en-US" b="true" sz="5211" i="true">
                <a:solidFill>
                  <a:srgbClr val="000000"/>
                </a:solidFill>
                <a:latin typeface="Times New Roman Bold Italics"/>
                <a:ea typeface="Times New Roman Bold Italics"/>
                <a:cs typeface="Times New Roman Bold Italics"/>
                <a:sym typeface="Times New Roman Bold Italics"/>
              </a:rPr>
              <a:t>    </a:t>
            </a:r>
          </a:p>
          <a:p>
            <a:pPr algn="l">
              <a:lnSpc>
                <a:spcPts val="7295"/>
              </a:lnSpc>
            </a:pPr>
          </a:p>
          <a:p>
            <a:pPr algn="l">
              <a:lnSpc>
                <a:spcPts val="7295"/>
              </a:lnSpc>
            </a:pPr>
          </a:p>
          <a:p>
            <a:pPr algn="l">
              <a:lnSpc>
                <a:spcPts val="7559"/>
              </a:lnSpc>
            </a:pPr>
          </a:p>
          <a:p>
            <a:pPr algn="l">
              <a:lnSpc>
                <a:spcPts val="11811"/>
              </a:lnSpc>
            </a:pP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19</a:t>
            </a:r>
          </a:p>
        </p:txBody>
      </p:sp>
      <p:sp>
        <p:nvSpPr>
          <p:cNvPr name="TextBox 14" id="14"/>
          <p:cNvSpPr txBox="true"/>
          <p:nvPr/>
        </p:nvSpPr>
        <p:spPr>
          <a:xfrm rot="0">
            <a:off x="401854" y="1905000"/>
            <a:ext cx="16811488" cy="6343651"/>
          </a:xfrm>
          <a:prstGeom prst="rect">
            <a:avLst/>
          </a:prstGeom>
        </p:spPr>
        <p:txBody>
          <a:bodyPr anchor="t" rtlCol="false" tIns="0" lIns="0" bIns="0" rIns="0">
            <a:spAutoFit/>
          </a:bodyPr>
          <a:lstStyle/>
          <a:p>
            <a:pPr algn="l">
              <a:lnSpc>
                <a:spcPts val="4619"/>
              </a:lnSpc>
            </a:pPr>
            <a:r>
              <a:rPr lang="en-US" sz="3299">
                <a:solidFill>
                  <a:srgbClr val="000000"/>
                </a:solidFill>
                <a:latin typeface="Times New Roman"/>
                <a:ea typeface="Times New Roman"/>
                <a:cs typeface="Times New Roman"/>
                <a:sym typeface="Times New Roman"/>
              </a:rPr>
              <a:t>We tested how all system parts work together, including the mobile app, Firebase, database, ultrasonic sensor, and Raspberry Pi. Tasks from both voice and text input were saved, synced, and displayed correctly on the smart mirror. </a:t>
            </a:r>
          </a:p>
          <a:p>
            <a:pPr algn="l">
              <a:lnSpc>
                <a:spcPts val="4619"/>
              </a:lnSpc>
            </a:pPr>
          </a:p>
          <a:p>
            <a:pPr algn="l">
              <a:lnSpc>
                <a:spcPts val="4619"/>
              </a:lnSpc>
            </a:pPr>
            <a:r>
              <a:rPr lang="en-US" sz="3299">
                <a:solidFill>
                  <a:srgbClr val="000000"/>
                </a:solidFill>
                <a:latin typeface="Times New Roman"/>
                <a:ea typeface="Times New Roman"/>
                <a:cs typeface="Times New Roman"/>
                <a:sym typeface="Times New Roman"/>
              </a:rPr>
              <a:t>The ultrasonic sensor detected the user and activated the screen as expected.</a:t>
            </a:r>
          </a:p>
          <a:p>
            <a:pPr algn="l">
              <a:lnSpc>
                <a:spcPts val="4619"/>
              </a:lnSpc>
            </a:pPr>
            <a:r>
              <a:rPr lang="en-US" sz="3299">
                <a:solidFill>
                  <a:srgbClr val="000000"/>
                </a:solidFill>
                <a:latin typeface="Times New Roman"/>
                <a:ea typeface="Times New Roman"/>
                <a:cs typeface="Times New Roman"/>
                <a:sym typeface="Times New Roman"/>
              </a:rPr>
              <a:t>During testing, we found the Raspberry Pi was overheating. The issue was caused by connecting the ultrasonic sensor without resistors, allowing too much voltage. After adding resistors, the temperature went back to normal.</a:t>
            </a:r>
          </a:p>
          <a:p>
            <a:pPr algn="l">
              <a:lnSpc>
                <a:spcPts val="4619"/>
              </a:lnSpc>
            </a:pPr>
          </a:p>
          <a:p>
            <a:pPr algn="l">
              <a:lnSpc>
                <a:spcPts val="4619"/>
              </a:lnSpc>
            </a:pPr>
            <a:r>
              <a:rPr lang="en-US" sz="3299">
                <a:solidFill>
                  <a:srgbClr val="000000"/>
                </a:solidFill>
                <a:latin typeface="Times New Roman"/>
                <a:ea typeface="Times New Roman"/>
                <a:cs typeface="Times New Roman"/>
                <a:sym typeface="Times New Roman"/>
              </a:rPr>
              <a:t>All components worked smoothly together, and the system was stable with no major issues.</a:t>
            </a:r>
          </a:p>
          <a:p>
            <a:pPr algn="l">
              <a:lnSpc>
                <a:spcPts val="3779"/>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17213342" y="2701178"/>
            <a:ext cx="4758515" cy="47585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8" id="8"/>
          <p:cNvGrpSpPr/>
          <p:nvPr/>
        </p:nvGrpSpPr>
        <p:grpSpPr>
          <a:xfrm rot="0">
            <a:off x="16666443" y="656036"/>
            <a:ext cx="1241303" cy="575606"/>
            <a:chOff x="0" y="0"/>
            <a:chExt cx="326928" cy="151600"/>
          </a:xfrm>
        </p:grpSpPr>
        <p:sp>
          <p:nvSpPr>
            <p:cNvPr name="Freeform 9" id="9"/>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0" id="10"/>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1" id="11"/>
          <p:cNvSpPr/>
          <p:nvPr/>
        </p:nvSpPr>
        <p:spPr>
          <a:xfrm flipH="false" flipV="false" rot="0">
            <a:off x="16942528" y="793769"/>
            <a:ext cx="633545" cy="300142"/>
          </a:xfrm>
          <a:custGeom>
            <a:avLst/>
            <a:gdLst/>
            <a:ahLst/>
            <a:cxnLst/>
            <a:rect r="r" b="b" t="t" l="l"/>
            <a:pathLst>
              <a:path h="300142" w="633545">
                <a:moveTo>
                  <a:pt x="0" y="0"/>
                </a:moveTo>
                <a:lnTo>
                  <a:pt x="633544" y="0"/>
                </a:lnTo>
                <a:lnTo>
                  <a:pt x="633544"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31040" y="318687"/>
            <a:ext cx="18025920" cy="9746147"/>
          </a:xfrm>
          <a:prstGeom prst="rect">
            <a:avLst/>
          </a:prstGeom>
        </p:spPr>
        <p:txBody>
          <a:bodyPr anchor="t" rtlCol="false" tIns="0" lIns="0" bIns="0" rIns="0">
            <a:spAutoFit/>
          </a:bodyPr>
          <a:lstStyle/>
          <a:p>
            <a:pPr algn="ctr">
              <a:lnSpc>
                <a:spcPts val="4759"/>
              </a:lnSpc>
            </a:pPr>
            <a:r>
              <a:rPr lang="en-US" b="true" sz="3399" i="true">
                <a:solidFill>
                  <a:srgbClr val="000000"/>
                </a:solidFill>
                <a:latin typeface="Times New Roman Bold Italics"/>
                <a:ea typeface="Times New Roman Bold Italics"/>
                <a:cs typeface="Times New Roman Bold Italics"/>
                <a:sym typeface="Times New Roman Bold Italics"/>
              </a:rPr>
              <a:t>USER ACCEPTANCE TESTING</a:t>
            </a:r>
          </a:p>
          <a:p>
            <a:pPr algn="l">
              <a:lnSpc>
                <a:spcPts val="2800"/>
              </a:lnSpc>
            </a:pPr>
          </a:p>
          <a:p>
            <a:pPr algn="l">
              <a:lnSpc>
                <a:spcPts val="4900"/>
              </a:lnSpc>
            </a:pPr>
          </a:p>
          <a:p>
            <a:pPr algn="l">
              <a:lnSpc>
                <a:spcPts val="3920"/>
              </a:lnSpc>
            </a:pPr>
          </a:p>
          <a:p>
            <a:pPr algn="l">
              <a:lnSpc>
                <a:spcPts val="4900"/>
              </a:lnSpc>
            </a:pPr>
          </a:p>
          <a:p>
            <a:pPr algn="l">
              <a:lnSpc>
                <a:spcPts val="4900"/>
              </a:lnSpc>
            </a:pPr>
          </a:p>
          <a:p>
            <a:pPr algn="l">
              <a:lnSpc>
                <a:spcPts val="4900"/>
              </a:lnSpc>
            </a:pPr>
          </a:p>
          <a:p>
            <a:pPr algn="l">
              <a:lnSpc>
                <a:spcPts val="4900"/>
              </a:lnSpc>
            </a:pPr>
          </a:p>
          <a:p>
            <a:pPr algn="l">
              <a:lnSpc>
                <a:spcPts val="7295"/>
              </a:lnSpc>
            </a:pPr>
            <a:r>
              <a:rPr lang="en-US" b="true" sz="5211" i="true">
                <a:solidFill>
                  <a:srgbClr val="000000"/>
                </a:solidFill>
                <a:latin typeface="Times New Roman Bold Italics"/>
                <a:ea typeface="Times New Roman Bold Italics"/>
                <a:cs typeface="Times New Roman Bold Italics"/>
                <a:sym typeface="Times New Roman Bold Italics"/>
              </a:rPr>
              <a:t>    </a:t>
            </a:r>
          </a:p>
          <a:p>
            <a:pPr algn="l">
              <a:lnSpc>
                <a:spcPts val="7295"/>
              </a:lnSpc>
            </a:pPr>
          </a:p>
          <a:p>
            <a:pPr algn="l">
              <a:lnSpc>
                <a:spcPts val="7295"/>
              </a:lnSpc>
            </a:pPr>
          </a:p>
          <a:p>
            <a:pPr algn="l">
              <a:lnSpc>
                <a:spcPts val="7559"/>
              </a:lnSpc>
            </a:pPr>
          </a:p>
          <a:p>
            <a:pPr algn="l">
              <a:lnSpc>
                <a:spcPts val="11811"/>
              </a:lnSpc>
            </a:pPr>
          </a:p>
        </p:txBody>
      </p:sp>
      <p:sp>
        <p:nvSpPr>
          <p:cNvPr name="Freeform 13" id="13"/>
          <p:cNvSpPr/>
          <p:nvPr/>
        </p:nvSpPr>
        <p:spPr>
          <a:xfrm flipH="false" flipV="false" rot="0">
            <a:off x="3200214" y="3195800"/>
            <a:ext cx="11822793" cy="6517315"/>
          </a:xfrm>
          <a:custGeom>
            <a:avLst/>
            <a:gdLst/>
            <a:ahLst/>
            <a:cxnLst/>
            <a:rect r="r" b="b" t="t" l="l"/>
            <a:pathLst>
              <a:path h="6517315" w="11822793">
                <a:moveTo>
                  <a:pt x="0" y="0"/>
                </a:moveTo>
                <a:lnTo>
                  <a:pt x="11822793" y="0"/>
                </a:lnTo>
                <a:lnTo>
                  <a:pt x="11822793" y="6517315"/>
                </a:lnTo>
                <a:lnTo>
                  <a:pt x="0" y="6517315"/>
                </a:lnTo>
                <a:lnTo>
                  <a:pt x="0" y="0"/>
                </a:lnTo>
                <a:close/>
              </a:path>
            </a:pathLst>
          </a:custGeom>
          <a:blipFill>
            <a:blip r:embed="rId4"/>
            <a:stretch>
              <a:fillRect l="0" t="0" r="0" b="0"/>
            </a:stretch>
          </a:blipFill>
        </p:spPr>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20</a:t>
            </a:r>
          </a:p>
        </p:txBody>
      </p:sp>
      <p:sp>
        <p:nvSpPr>
          <p:cNvPr name="TextBox 15" id="15"/>
          <p:cNvSpPr txBox="true"/>
          <p:nvPr/>
        </p:nvSpPr>
        <p:spPr>
          <a:xfrm rot="0">
            <a:off x="131040" y="1507940"/>
            <a:ext cx="16811488" cy="1482725"/>
          </a:xfrm>
          <a:prstGeom prst="rect">
            <a:avLst/>
          </a:prstGeom>
        </p:spPr>
        <p:txBody>
          <a:bodyPr anchor="t" rtlCol="false" tIns="0" lIns="0" bIns="0" rIns="0">
            <a:spAutoFit/>
          </a:bodyPr>
          <a:lstStyle/>
          <a:p>
            <a:pPr algn="l">
              <a:lnSpc>
                <a:spcPts val="3779"/>
              </a:lnSpc>
            </a:pPr>
            <a:r>
              <a:rPr lang="en-US" sz="2699">
                <a:solidFill>
                  <a:srgbClr val="000000"/>
                </a:solidFill>
                <a:latin typeface="Times New Roman"/>
                <a:ea typeface="Times New Roman"/>
                <a:cs typeface="Times New Roman"/>
                <a:sym typeface="Times New Roman"/>
              </a:rPr>
              <a:t>We tested the system using four key criteria to check its performance and ease of use, based on user feedback, such as adding a save confirmation, we made updates to enhance the overall experience.</a:t>
            </a:r>
          </a:p>
          <a:p>
            <a:pPr algn="l">
              <a:lnSpc>
                <a:spcPts val="3919"/>
              </a:lnSpc>
            </a:pPr>
            <a:r>
              <a:rPr lang="en-US" sz="2799" b="true">
                <a:solidFill>
                  <a:srgbClr val="000000"/>
                </a:solidFill>
                <a:latin typeface="Times New Roman Bold"/>
                <a:ea typeface="Times New Roman Bold"/>
                <a:cs typeface="Times New Roman Bold"/>
                <a:sym typeface="Times New Roman Bold"/>
              </a:rPr>
              <a:t>The table outlines participants, roles, and key feedback for system improvements: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17213342" y="2701178"/>
            <a:ext cx="4758515" cy="47585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8" id="8"/>
          <p:cNvGrpSpPr/>
          <p:nvPr/>
        </p:nvGrpSpPr>
        <p:grpSpPr>
          <a:xfrm rot="0">
            <a:off x="16666443" y="656036"/>
            <a:ext cx="1241303" cy="575606"/>
            <a:chOff x="0" y="0"/>
            <a:chExt cx="326928" cy="151600"/>
          </a:xfrm>
        </p:grpSpPr>
        <p:sp>
          <p:nvSpPr>
            <p:cNvPr name="Freeform 9" id="9"/>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0" id="10"/>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1" id="11"/>
          <p:cNvSpPr/>
          <p:nvPr/>
        </p:nvSpPr>
        <p:spPr>
          <a:xfrm flipH="false" flipV="false" rot="0">
            <a:off x="16942528" y="793769"/>
            <a:ext cx="633545" cy="300142"/>
          </a:xfrm>
          <a:custGeom>
            <a:avLst/>
            <a:gdLst/>
            <a:ahLst/>
            <a:cxnLst/>
            <a:rect r="r" b="b" t="t" l="l"/>
            <a:pathLst>
              <a:path h="300142" w="633545">
                <a:moveTo>
                  <a:pt x="0" y="0"/>
                </a:moveTo>
                <a:lnTo>
                  <a:pt x="633544" y="0"/>
                </a:lnTo>
                <a:lnTo>
                  <a:pt x="633544"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5367305" y="2146078"/>
            <a:ext cx="9596949" cy="7821513"/>
          </a:xfrm>
          <a:custGeom>
            <a:avLst/>
            <a:gdLst/>
            <a:ahLst/>
            <a:cxnLst/>
            <a:rect r="r" b="b" t="t" l="l"/>
            <a:pathLst>
              <a:path h="7821513" w="9596949">
                <a:moveTo>
                  <a:pt x="0" y="0"/>
                </a:moveTo>
                <a:lnTo>
                  <a:pt x="9596948" y="0"/>
                </a:lnTo>
                <a:lnTo>
                  <a:pt x="9596948" y="7821513"/>
                </a:lnTo>
                <a:lnTo>
                  <a:pt x="0" y="7821513"/>
                </a:lnTo>
                <a:lnTo>
                  <a:pt x="0" y="0"/>
                </a:lnTo>
                <a:close/>
              </a:path>
            </a:pathLst>
          </a:custGeom>
          <a:blipFill>
            <a:blip r:embed="rId4"/>
            <a:stretch>
              <a:fillRect l="0" t="0" r="0" b="0"/>
            </a:stretch>
          </a:blipFill>
        </p:spPr>
      </p:sp>
      <p:sp>
        <p:nvSpPr>
          <p:cNvPr name="TextBox 13" id="13"/>
          <p:cNvSpPr txBox="true"/>
          <p:nvPr/>
        </p:nvSpPr>
        <p:spPr>
          <a:xfrm rot="0">
            <a:off x="0" y="134597"/>
            <a:ext cx="18025920" cy="1247140"/>
          </a:xfrm>
          <a:prstGeom prst="rect">
            <a:avLst/>
          </a:prstGeom>
        </p:spPr>
        <p:txBody>
          <a:bodyPr anchor="t" rtlCol="false" tIns="0" lIns="0" bIns="0" rIns="0">
            <a:spAutoFit/>
          </a:bodyPr>
          <a:lstStyle/>
          <a:p>
            <a:pPr algn="ctr">
              <a:lnSpc>
                <a:spcPts val="4759"/>
              </a:lnSpc>
            </a:pPr>
            <a:r>
              <a:rPr lang="en-US" b="true" sz="3399" i="true" spc="251">
                <a:solidFill>
                  <a:srgbClr val="000000"/>
                </a:solidFill>
                <a:latin typeface="Times New Roman Bold Italics"/>
                <a:ea typeface="Times New Roman Bold Italics"/>
                <a:cs typeface="Times New Roman Bold Italics"/>
                <a:sym typeface="Times New Roman Bold Italics"/>
              </a:rPr>
              <a:t>TEST CASES </a:t>
            </a:r>
          </a:p>
          <a:p>
            <a:pPr algn="l">
              <a:lnSpc>
                <a:spcPts val="4759"/>
              </a:lnSpc>
            </a:pPr>
          </a:p>
        </p:txBody>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21</a:t>
            </a:r>
          </a:p>
        </p:txBody>
      </p:sp>
      <p:sp>
        <p:nvSpPr>
          <p:cNvPr name="TextBox 15" id="15"/>
          <p:cNvSpPr txBox="true"/>
          <p:nvPr/>
        </p:nvSpPr>
        <p:spPr>
          <a:xfrm rot="0">
            <a:off x="131040" y="989135"/>
            <a:ext cx="16811488" cy="988695"/>
          </a:xfrm>
          <a:prstGeom prst="rect">
            <a:avLst/>
          </a:prstGeom>
        </p:spPr>
        <p:txBody>
          <a:bodyPr anchor="t" rtlCol="false" tIns="0" lIns="0" bIns="0" rIns="0">
            <a:spAutoFit/>
          </a:bodyPr>
          <a:lstStyle/>
          <a:p>
            <a:pPr algn="l">
              <a:lnSpc>
                <a:spcPts val="3779"/>
              </a:lnSpc>
            </a:pPr>
            <a:r>
              <a:rPr lang="en-US" sz="2699">
                <a:solidFill>
                  <a:srgbClr val="000000"/>
                </a:solidFill>
                <a:latin typeface="Times New Roman"/>
                <a:ea typeface="Times New Roman"/>
                <a:cs typeface="Times New Roman"/>
                <a:sym typeface="Times New Roman"/>
              </a:rPr>
              <a:t>We tested key app functions like adding, saving, syncing, and displaying tasks to ensure they work correctly. </a:t>
            </a:r>
          </a:p>
          <a:p>
            <a:pPr algn="l">
              <a:lnSpc>
                <a:spcPts val="3779"/>
              </a:lnSpc>
            </a:pPr>
            <a:r>
              <a:rPr lang="en-US" sz="2699" b="true">
                <a:solidFill>
                  <a:srgbClr val="000000"/>
                </a:solidFill>
                <a:latin typeface="Times New Roman Bold"/>
                <a:ea typeface="Times New Roman Bold"/>
                <a:cs typeface="Times New Roman Bold"/>
                <a:sym typeface="Times New Roman Bold"/>
              </a:rPr>
              <a:t>The table summarizes each test and its result.</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17213342" y="2701178"/>
            <a:ext cx="4758515" cy="47585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8" id="8"/>
          <p:cNvGrpSpPr/>
          <p:nvPr/>
        </p:nvGrpSpPr>
        <p:grpSpPr>
          <a:xfrm rot="0">
            <a:off x="16666443" y="656036"/>
            <a:ext cx="1241303" cy="575606"/>
            <a:chOff x="0" y="0"/>
            <a:chExt cx="326928" cy="151600"/>
          </a:xfrm>
        </p:grpSpPr>
        <p:sp>
          <p:nvSpPr>
            <p:cNvPr name="Freeform 9" id="9"/>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0" id="10"/>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1" id="11"/>
          <p:cNvSpPr/>
          <p:nvPr/>
        </p:nvSpPr>
        <p:spPr>
          <a:xfrm flipH="false" flipV="false" rot="0">
            <a:off x="16942528" y="793769"/>
            <a:ext cx="633545" cy="300142"/>
          </a:xfrm>
          <a:custGeom>
            <a:avLst/>
            <a:gdLst/>
            <a:ahLst/>
            <a:cxnLst/>
            <a:rect r="r" b="b" t="t" l="l"/>
            <a:pathLst>
              <a:path h="300142" w="633545">
                <a:moveTo>
                  <a:pt x="0" y="0"/>
                </a:moveTo>
                <a:lnTo>
                  <a:pt x="633544" y="0"/>
                </a:lnTo>
                <a:lnTo>
                  <a:pt x="633544"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31040" y="2376958"/>
            <a:ext cx="8492716" cy="3706766"/>
          </a:xfrm>
          <a:custGeom>
            <a:avLst/>
            <a:gdLst/>
            <a:ahLst/>
            <a:cxnLst/>
            <a:rect r="r" b="b" t="t" l="l"/>
            <a:pathLst>
              <a:path h="3706766" w="8492716">
                <a:moveTo>
                  <a:pt x="0" y="0"/>
                </a:moveTo>
                <a:lnTo>
                  <a:pt x="8492716" y="0"/>
                </a:lnTo>
                <a:lnTo>
                  <a:pt x="8492716" y="3706765"/>
                </a:lnTo>
                <a:lnTo>
                  <a:pt x="0" y="3706765"/>
                </a:lnTo>
                <a:lnTo>
                  <a:pt x="0" y="0"/>
                </a:lnTo>
                <a:close/>
              </a:path>
            </a:pathLst>
          </a:custGeom>
          <a:blipFill>
            <a:blip r:embed="rId4"/>
            <a:stretch>
              <a:fillRect l="0" t="0" r="0" b="0"/>
            </a:stretch>
          </a:blipFill>
        </p:spPr>
      </p:sp>
      <p:sp>
        <p:nvSpPr>
          <p:cNvPr name="Freeform 13" id="13"/>
          <p:cNvSpPr/>
          <p:nvPr/>
        </p:nvSpPr>
        <p:spPr>
          <a:xfrm flipH="false" flipV="false" rot="0">
            <a:off x="131040" y="7459693"/>
            <a:ext cx="9012960" cy="2570759"/>
          </a:xfrm>
          <a:custGeom>
            <a:avLst/>
            <a:gdLst/>
            <a:ahLst/>
            <a:cxnLst/>
            <a:rect r="r" b="b" t="t" l="l"/>
            <a:pathLst>
              <a:path h="2570759" w="9012960">
                <a:moveTo>
                  <a:pt x="0" y="0"/>
                </a:moveTo>
                <a:lnTo>
                  <a:pt x="9012960" y="0"/>
                </a:lnTo>
                <a:lnTo>
                  <a:pt x="9012960" y="2570760"/>
                </a:lnTo>
                <a:lnTo>
                  <a:pt x="0" y="2570760"/>
                </a:lnTo>
                <a:lnTo>
                  <a:pt x="0" y="0"/>
                </a:lnTo>
                <a:close/>
              </a:path>
            </a:pathLst>
          </a:custGeom>
          <a:blipFill>
            <a:blip r:embed="rId5"/>
            <a:stretch>
              <a:fillRect l="0" t="0" r="0" b="0"/>
            </a:stretch>
          </a:blipFill>
        </p:spPr>
      </p:sp>
      <p:sp>
        <p:nvSpPr>
          <p:cNvPr name="TextBox 14" id="14"/>
          <p:cNvSpPr txBox="true"/>
          <p:nvPr/>
        </p:nvSpPr>
        <p:spPr>
          <a:xfrm rot="0">
            <a:off x="131040" y="134597"/>
            <a:ext cx="18025920" cy="2060742"/>
          </a:xfrm>
          <a:prstGeom prst="rect">
            <a:avLst/>
          </a:prstGeom>
        </p:spPr>
        <p:txBody>
          <a:bodyPr anchor="t" rtlCol="false" tIns="0" lIns="0" bIns="0" rIns="0">
            <a:spAutoFit/>
          </a:bodyPr>
          <a:lstStyle/>
          <a:p>
            <a:pPr algn="ctr">
              <a:lnSpc>
                <a:spcPts val="4619"/>
              </a:lnSpc>
            </a:pPr>
            <a:r>
              <a:rPr lang="en-US" b="true" sz="3299" i="true" spc="244">
                <a:solidFill>
                  <a:srgbClr val="000000"/>
                </a:solidFill>
                <a:latin typeface="Times New Roman Bold Italics"/>
                <a:ea typeface="Times New Roman Bold Italics"/>
                <a:cs typeface="Times New Roman Bold Italics"/>
                <a:sym typeface="Times New Roman Bold Italics"/>
              </a:rPr>
              <a:t> DISCUSSION THE TESTING</a:t>
            </a:r>
          </a:p>
          <a:p>
            <a:pPr algn="l">
              <a:lnSpc>
                <a:spcPts val="11811"/>
              </a:lnSpc>
            </a:pPr>
          </a:p>
        </p:txBody>
      </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22</a:t>
            </a:r>
          </a:p>
        </p:txBody>
      </p:sp>
      <p:sp>
        <p:nvSpPr>
          <p:cNvPr name="TextBox 16" id="16"/>
          <p:cNvSpPr txBox="true"/>
          <p:nvPr/>
        </p:nvSpPr>
        <p:spPr>
          <a:xfrm rot="0">
            <a:off x="131040" y="1081252"/>
            <a:ext cx="16811488" cy="1518285"/>
          </a:xfrm>
          <a:prstGeom prst="rect">
            <a:avLst/>
          </a:prstGeom>
        </p:spPr>
        <p:txBody>
          <a:bodyPr anchor="t" rtlCol="false" tIns="0" lIns="0" bIns="0" rIns="0">
            <a:spAutoFit/>
          </a:bodyPr>
          <a:lstStyle/>
          <a:p>
            <a:pPr algn="l">
              <a:lnSpc>
                <a:spcPts val="4199"/>
              </a:lnSpc>
            </a:pPr>
            <a:r>
              <a:rPr lang="en-US" sz="2999" b="true">
                <a:solidFill>
                  <a:srgbClr val="000000"/>
                </a:solidFill>
                <a:latin typeface="Times New Roman Bold"/>
                <a:ea typeface="Times New Roman Bold"/>
                <a:cs typeface="Times New Roman Bold"/>
                <a:sym typeface="Times New Roman Bold"/>
              </a:rPr>
              <a:t>Test Results Summary</a:t>
            </a:r>
          </a:p>
          <a:p>
            <a:pPr algn="l">
              <a:lnSpc>
                <a:spcPts val="3779"/>
              </a:lnSpc>
            </a:pPr>
            <a:r>
              <a:rPr lang="en-US" sz="2699">
                <a:solidFill>
                  <a:srgbClr val="000000"/>
                </a:solidFill>
                <a:latin typeface="Times New Roman"/>
                <a:ea typeface="Times New Roman"/>
                <a:cs typeface="Times New Roman"/>
                <a:sym typeface="Times New Roman"/>
              </a:rPr>
              <a:t>This table shows how well the system passed different</a:t>
            </a:r>
            <a:r>
              <a:rPr lang="en-US" sz="2699">
                <a:solidFill>
                  <a:srgbClr val="000000"/>
                </a:solidFill>
                <a:latin typeface="Times New Roman"/>
                <a:ea typeface="Times New Roman"/>
                <a:cs typeface="Times New Roman"/>
                <a:sym typeface="Times New Roman"/>
              </a:rPr>
              <a:t> tes</a:t>
            </a:r>
            <a:r>
              <a:rPr lang="en-US" sz="2699">
                <a:solidFill>
                  <a:srgbClr val="000000"/>
                </a:solidFill>
                <a:latin typeface="Times New Roman"/>
                <a:ea typeface="Times New Roman"/>
                <a:cs typeface="Times New Roman"/>
                <a:sym typeface="Times New Roman"/>
              </a:rPr>
              <a:t>ts d</a:t>
            </a:r>
            <a:r>
              <a:rPr lang="en-US" sz="2699">
                <a:solidFill>
                  <a:srgbClr val="000000"/>
                </a:solidFill>
                <a:latin typeface="Times New Roman"/>
                <a:ea typeface="Times New Roman"/>
                <a:cs typeface="Times New Roman"/>
                <a:sym typeface="Times New Roman"/>
              </a:rPr>
              <a:t>uri</a:t>
            </a:r>
            <a:r>
              <a:rPr lang="en-US" sz="2699">
                <a:solidFill>
                  <a:srgbClr val="000000"/>
                </a:solidFill>
                <a:latin typeface="Times New Roman"/>
                <a:ea typeface="Times New Roman"/>
                <a:cs typeface="Times New Roman"/>
                <a:sym typeface="Times New Roman"/>
              </a:rPr>
              <a:t>ng</a:t>
            </a:r>
            <a:r>
              <a:rPr lang="en-US" sz="2699">
                <a:solidFill>
                  <a:srgbClr val="000000"/>
                </a:solidFill>
                <a:latin typeface="Times New Roman"/>
                <a:ea typeface="Times New Roman"/>
                <a:cs typeface="Times New Roman"/>
                <a:sym typeface="Times New Roman"/>
              </a:rPr>
              <a:t> </a:t>
            </a:r>
            <a:r>
              <a:rPr lang="en-US" sz="2699">
                <a:solidFill>
                  <a:srgbClr val="000000"/>
                </a:solidFill>
                <a:latin typeface="Times New Roman"/>
                <a:ea typeface="Times New Roman"/>
                <a:cs typeface="Times New Roman"/>
                <a:sym typeface="Times New Roman"/>
              </a:rPr>
              <a:t>d</a:t>
            </a:r>
            <a:r>
              <a:rPr lang="en-US" sz="2699">
                <a:solidFill>
                  <a:srgbClr val="000000"/>
                </a:solidFill>
                <a:latin typeface="Times New Roman"/>
                <a:ea typeface="Times New Roman"/>
                <a:cs typeface="Times New Roman"/>
                <a:sym typeface="Times New Roman"/>
              </a:rPr>
              <a:t>e</a:t>
            </a:r>
            <a:r>
              <a:rPr lang="en-US" sz="2699">
                <a:solidFill>
                  <a:srgbClr val="000000"/>
                </a:solidFill>
                <a:latin typeface="Times New Roman"/>
                <a:ea typeface="Times New Roman"/>
                <a:cs typeface="Times New Roman"/>
                <a:sym typeface="Times New Roman"/>
              </a:rPr>
              <a:t>velopm</a:t>
            </a:r>
            <a:r>
              <a:rPr lang="en-US" sz="2699">
                <a:solidFill>
                  <a:srgbClr val="000000"/>
                </a:solidFill>
                <a:latin typeface="Times New Roman"/>
                <a:ea typeface="Times New Roman"/>
                <a:cs typeface="Times New Roman"/>
                <a:sym typeface="Times New Roman"/>
              </a:rPr>
              <a:t>e</a:t>
            </a:r>
            <a:r>
              <a:rPr lang="en-US" sz="2699">
                <a:solidFill>
                  <a:srgbClr val="000000"/>
                </a:solidFill>
                <a:latin typeface="Times New Roman"/>
                <a:ea typeface="Times New Roman"/>
                <a:cs typeface="Times New Roman"/>
                <a:sym typeface="Times New Roman"/>
              </a:rPr>
              <a:t>n</a:t>
            </a:r>
            <a:r>
              <a:rPr lang="en-US" sz="2699">
                <a:solidFill>
                  <a:srgbClr val="000000"/>
                </a:solidFill>
                <a:latin typeface="Times New Roman"/>
                <a:ea typeface="Times New Roman"/>
                <a:cs typeface="Times New Roman"/>
                <a:sym typeface="Times New Roman"/>
              </a:rPr>
              <a:t>t and </a:t>
            </a:r>
            <a:r>
              <a:rPr lang="en-US" sz="2699">
                <a:solidFill>
                  <a:srgbClr val="000000"/>
                </a:solidFill>
                <a:latin typeface="Times New Roman"/>
                <a:ea typeface="Times New Roman"/>
                <a:cs typeface="Times New Roman"/>
                <a:sym typeface="Times New Roman"/>
              </a:rPr>
              <a:t>u</a:t>
            </a:r>
            <a:r>
              <a:rPr lang="en-US" sz="2699">
                <a:solidFill>
                  <a:srgbClr val="000000"/>
                </a:solidFill>
                <a:latin typeface="Times New Roman"/>
                <a:ea typeface="Times New Roman"/>
                <a:cs typeface="Times New Roman"/>
                <a:sym typeface="Times New Roman"/>
              </a:rPr>
              <a:t>s</a:t>
            </a:r>
            <a:r>
              <a:rPr lang="en-US" sz="2699">
                <a:solidFill>
                  <a:srgbClr val="000000"/>
                </a:solidFill>
                <a:latin typeface="Times New Roman"/>
                <a:ea typeface="Times New Roman"/>
                <a:cs typeface="Times New Roman"/>
                <a:sym typeface="Times New Roman"/>
              </a:rPr>
              <a:t>er</a:t>
            </a:r>
            <a:r>
              <a:rPr lang="en-US" sz="2699">
                <a:solidFill>
                  <a:srgbClr val="000000"/>
                </a:solidFill>
                <a:latin typeface="Times New Roman"/>
                <a:ea typeface="Times New Roman"/>
                <a:cs typeface="Times New Roman"/>
                <a:sym typeface="Times New Roman"/>
              </a:rPr>
              <a:t> </a:t>
            </a:r>
            <a:r>
              <a:rPr lang="en-US" sz="2699">
                <a:solidFill>
                  <a:srgbClr val="000000"/>
                </a:solidFill>
                <a:latin typeface="Times New Roman"/>
                <a:ea typeface="Times New Roman"/>
                <a:cs typeface="Times New Roman"/>
                <a:sym typeface="Times New Roman"/>
              </a:rPr>
              <a:t>fe</a:t>
            </a:r>
            <a:r>
              <a:rPr lang="en-US" sz="2699">
                <a:solidFill>
                  <a:srgbClr val="000000"/>
                </a:solidFill>
                <a:latin typeface="Times New Roman"/>
                <a:ea typeface="Times New Roman"/>
                <a:cs typeface="Times New Roman"/>
                <a:sym typeface="Times New Roman"/>
              </a:rPr>
              <a:t>e</a:t>
            </a:r>
            <a:r>
              <a:rPr lang="en-US" sz="2699">
                <a:solidFill>
                  <a:srgbClr val="000000"/>
                </a:solidFill>
                <a:latin typeface="Times New Roman"/>
                <a:ea typeface="Times New Roman"/>
                <a:cs typeface="Times New Roman"/>
                <a:sym typeface="Times New Roman"/>
              </a:rPr>
              <a:t>dback:</a:t>
            </a:r>
          </a:p>
          <a:p>
            <a:pPr algn="l">
              <a:lnSpc>
                <a:spcPts val="3779"/>
              </a:lnSpc>
            </a:pPr>
          </a:p>
        </p:txBody>
      </p:sp>
      <p:sp>
        <p:nvSpPr>
          <p:cNvPr name="TextBox 17" id="17"/>
          <p:cNvSpPr txBox="true"/>
          <p:nvPr/>
        </p:nvSpPr>
        <p:spPr>
          <a:xfrm rot="0">
            <a:off x="131040" y="6151042"/>
            <a:ext cx="16811488" cy="2042161"/>
          </a:xfrm>
          <a:prstGeom prst="rect">
            <a:avLst/>
          </a:prstGeom>
        </p:spPr>
        <p:txBody>
          <a:bodyPr anchor="t" rtlCol="false" tIns="0" lIns="0" bIns="0" rIns="0">
            <a:spAutoFit/>
          </a:bodyPr>
          <a:lstStyle/>
          <a:p>
            <a:pPr algn="l">
              <a:lnSpc>
                <a:spcPts val="4199"/>
              </a:lnSpc>
            </a:pPr>
            <a:r>
              <a:rPr lang="en-US" sz="2999" b="true">
                <a:solidFill>
                  <a:srgbClr val="000000"/>
                </a:solidFill>
                <a:latin typeface="Times New Roman Bold"/>
                <a:ea typeface="Times New Roman Bold"/>
                <a:cs typeface="Times New Roman Bold"/>
                <a:sym typeface="Times New Roman Bold"/>
              </a:rPr>
              <a:t>Project Objectives and Achievement</a:t>
            </a:r>
          </a:p>
          <a:p>
            <a:pPr algn="l">
              <a:lnSpc>
                <a:spcPts val="3779"/>
              </a:lnSpc>
            </a:pPr>
            <a:r>
              <a:rPr lang="en-US" sz="2699">
                <a:solidFill>
                  <a:srgbClr val="000000"/>
                </a:solidFill>
                <a:latin typeface="Times New Roman"/>
                <a:ea typeface="Times New Roman"/>
                <a:cs typeface="Times New Roman"/>
                <a:sym typeface="Times New Roman"/>
              </a:rPr>
              <a:t>This table below lists the main goals of the project and shows that they were met during testing:</a:t>
            </a:r>
          </a:p>
          <a:p>
            <a:pPr algn="l">
              <a:lnSpc>
                <a:spcPts val="4199"/>
              </a:lnSpc>
            </a:pPr>
          </a:p>
          <a:p>
            <a:pPr algn="l">
              <a:lnSpc>
                <a:spcPts val="3779"/>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17213342" y="2701178"/>
            <a:ext cx="4758515" cy="47585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8" id="8"/>
          <p:cNvGrpSpPr/>
          <p:nvPr/>
        </p:nvGrpSpPr>
        <p:grpSpPr>
          <a:xfrm rot="0">
            <a:off x="16666443" y="656036"/>
            <a:ext cx="1241303" cy="575606"/>
            <a:chOff x="0" y="0"/>
            <a:chExt cx="326928" cy="151600"/>
          </a:xfrm>
        </p:grpSpPr>
        <p:sp>
          <p:nvSpPr>
            <p:cNvPr name="Freeform 9" id="9"/>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0" id="10"/>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1" id="11"/>
          <p:cNvSpPr/>
          <p:nvPr/>
        </p:nvSpPr>
        <p:spPr>
          <a:xfrm flipH="false" flipV="false" rot="0">
            <a:off x="16942528" y="793769"/>
            <a:ext cx="633545" cy="300142"/>
          </a:xfrm>
          <a:custGeom>
            <a:avLst/>
            <a:gdLst/>
            <a:ahLst/>
            <a:cxnLst/>
            <a:rect r="r" b="b" t="t" l="l"/>
            <a:pathLst>
              <a:path h="300142" w="633545">
                <a:moveTo>
                  <a:pt x="0" y="0"/>
                </a:moveTo>
                <a:lnTo>
                  <a:pt x="633544" y="0"/>
                </a:lnTo>
                <a:lnTo>
                  <a:pt x="633544"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31040" y="3307045"/>
            <a:ext cx="11301259" cy="3672909"/>
          </a:xfrm>
          <a:custGeom>
            <a:avLst/>
            <a:gdLst/>
            <a:ahLst/>
            <a:cxnLst/>
            <a:rect r="r" b="b" t="t" l="l"/>
            <a:pathLst>
              <a:path h="3672909" w="11301259">
                <a:moveTo>
                  <a:pt x="0" y="0"/>
                </a:moveTo>
                <a:lnTo>
                  <a:pt x="11301259" y="0"/>
                </a:lnTo>
                <a:lnTo>
                  <a:pt x="11301259" y="3672910"/>
                </a:lnTo>
                <a:lnTo>
                  <a:pt x="0" y="3672910"/>
                </a:lnTo>
                <a:lnTo>
                  <a:pt x="0" y="0"/>
                </a:lnTo>
                <a:close/>
              </a:path>
            </a:pathLst>
          </a:custGeom>
          <a:blipFill>
            <a:blip r:embed="rId4"/>
            <a:stretch>
              <a:fillRect l="0" t="0" r="0" b="0"/>
            </a:stretch>
          </a:blipFill>
        </p:spPr>
      </p:sp>
      <p:sp>
        <p:nvSpPr>
          <p:cNvPr name="TextBox 13" id="13"/>
          <p:cNvSpPr txBox="true"/>
          <p:nvPr/>
        </p:nvSpPr>
        <p:spPr>
          <a:xfrm rot="0">
            <a:off x="131040" y="134597"/>
            <a:ext cx="17445032" cy="1247140"/>
          </a:xfrm>
          <a:prstGeom prst="rect">
            <a:avLst/>
          </a:prstGeom>
        </p:spPr>
        <p:txBody>
          <a:bodyPr anchor="t" rtlCol="false" tIns="0" lIns="0" bIns="0" rIns="0">
            <a:spAutoFit/>
          </a:bodyPr>
          <a:lstStyle/>
          <a:p>
            <a:pPr algn="ctr">
              <a:lnSpc>
                <a:spcPts val="4759"/>
              </a:lnSpc>
            </a:pPr>
            <a:r>
              <a:rPr lang="en-US" b="true" sz="3399" i="true" spc="251">
                <a:solidFill>
                  <a:srgbClr val="000000"/>
                </a:solidFill>
                <a:latin typeface="Times New Roman Bold Italics"/>
                <a:ea typeface="Times New Roman Bold Italics"/>
                <a:cs typeface="Times New Roman Bold Italics"/>
                <a:sym typeface="Times New Roman Bold Italics"/>
              </a:rPr>
              <a:t> DISCUSSION THE TESTING</a:t>
            </a:r>
          </a:p>
          <a:p>
            <a:pPr algn="l">
              <a:lnSpc>
                <a:spcPts val="4759"/>
              </a:lnSpc>
            </a:pPr>
          </a:p>
        </p:txBody>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23</a:t>
            </a:r>
          </a:p>
        </p:txBody>
      </p:sp>
      <p:sp>
        <p:nvSpPr>
          <p:cNvPr name="TextBox 15" id="15"/>
          <p:cNvSpPr txBox="true"/>
          <p:nvPr/>
        </p:nvSpPr>
        <p:spPr>
          <a:xfrm rot="0">
            <a:off x="131040" y="1646760"/>
            <a:ext cx="16811488" cy="1994536"/>
          </a:xfrm>
          <a:prstGeom prst="rect">
            <a:avLst/>
          </a:prstGeom>
        </p:spPr>
        <p:txBody>
          <a:bodyPr anchor="t" rtlCol="false" tIns="0" lIns="0" bIns="0" rIns="0">
            <a:spAutoFit/>
          </a:bodyPr>
          <a:lstStyle/>
          <a:p>
            <a:pPr algn="l">
              <a:lnSpc>
                <a:spcPts val="4199"/>
              </a:lnSpc>
            </a:pPr>
            <a:r>
              <a:rPr lang="en-US" sz="2999" b="true">
                <a:solidFill>
                  <a:srgbClr val="000000"/>
                </a:solidFill>
                <a:latin typeface="Times New Roman Bold"/>
                <a:ea typeface="Times New Roman Bold"/>
                <a:cs typeface="Times New Roman Bold"/>
                <a:sym typeface="Times New Roman Bold"/>
              </a:rPr>
              <a:t>Challenges and Limitations</a:t>
            </a:r>
          </a:p>
          <a:p>
            <a:pPr algn="l">
              <a:lnSpc>
                <a:spcPts val="3779"/>
              </a:lnSpc>
            </a:pPr>
            <a:r>
              <a:rPr lang="en-US" sz="2699">
                <a:solidFill>
                  <a:srgbClr val="000000"/>
                </a:solidFill>
                <a:latin typeface="Times New Roman"/>
                <a:ea typeface="Times New Roman"/>
                <a:cs typeface="Times New Roman"/>
                <a:sym typeface="Times New Roman"/>
              </a:rPr>
              <a:t>This table highlights main difficulties faced during the project and how they were handled or noted:</a:t>
            </a:r>
          </a:p>
          <a:p>
            <a:pPr algn="l">
              <a:lnSpc>
                <a:spcPts val="3779"/>
              </a:lnSpc>
            </a:pPr>
          </a:p>
          <a:p>
            <a:pPr algn="l">
              <a:lnSpc>
                <a:spcPts val="3779"/>
              </a:lnSpc>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17213342" y="2701178"/>
            <a:ext cx="4758515" cy="47585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8" id="8"/>
          <p:cNvGrpSpPr/>
          <p:nvPr/>
        </p:nvGrpSpPr>
        <p:grpSpPr>
          <a:xfrm rot="0">
            <a:off x="16666443" y="656036"/>
            <a:ext cx="1241303" cy="575606"/>
            <a:chOff x="0" y="0"/>
            <a:chExt cx="326928" cy="151600"/>
          </a:xfrm>
        </p:grpSpPr>
        <p:sp>
          <p:nvSpPr>
            <p:cNvPr name="Freeform 9" id="9"/>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0" id="10"/>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1" id="11"/>
          <p:cNvSpPr/>
          <p:nvPr/>
        </p:nvSpPr>
        <p:spPr>
          <a:xfrm flipH="false" flipV="false" rot="0">
            <a:off x="16942528" y="793769"/>
            <a:ext cx="633545" cy="300142"/>
          </a:xfrm>
          <a:custGeom>
            <a:avLst/>
            <a:gdLst/>
            <a:ahLst/>
            <a:cxnLst/>
            <a:rect r="r" b="b" t="t" l="l"/>
            <a:pathLst>
              <a:path h="300142" w="633545">
                <a:moveTo>
                  <a:pt x="0" y="0"/>
                </a:moveTo>
                <a:lnTo>
                  <a:pt x="633544" y="0"/>
                </a:lnTo>
                <a:lnTo>
                  <a:pt x="633544"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31040" y="331284"/>
            <a:ext cx="18025920" cy="16023798"/>
          </a:xfrm>
          <a:prstGeom prst="rect">
            <a:avLst/>
          </a:prstGeom>
        </p:spPr>
        <p:txBody>
          <a:bodyPr anchor="t" rtlCol="false" tIns="0" lIns="0" bIns="0" rIns="0">
            <a:spAutoFit/>
          </a:bodyPr>
          <a:lstStyle/>
          <a:p>
            <a:pPr algn="just">
              <a:lnSpc>
                <a:spcPts val="4685"/>
              </a:lnSpc>
            </a:pPr>
            <a:r>
              <a:rPr lang="en-US" b="true" sz="3346" i="true">
                <a:solidFill>
                  <a:srgbClr val="000000"/>
                </a:solidFill>
                <a:latin typeface="Times New Roman Bold Italics"/>
                <a:ea typeface="Times New Roman Bold Italics"/>
                <a:cs typeface="Times New Roman Bold Italics"/>
                <a:sym typeface="Times New Roman Bold Italics"/>
              </a:rPr>
              <a:t>                                                    CONCLUSION AND FUTURE WORK</a:t>
            </a:r>
          </a:p>
          <a:p>
            <a:pPr algn="l">
              <a:lnSpc>
                <a:spcPts val="4900"/>
              </a:lnSpc>
            </a:pPr>
          </a:p>
          <a:p>
            <a:pPr algn="ctr">
              <a:lnSpc>
                <a:spcPts val="4619"/>
              </a:lnSpc>
            </a:pPr>
          </a:p>
          <a:p>
            <a:pPr algn="l">
              <a:lnSpc>
                <a:spcPts val="2800"/>
              </a:lnSpc>
            </a:pPr>
          </a:p>
          <a:p>
            <a:pPr algn="ctr">
              <a:lnSpc>
                <a:spcPts val="3499"/>
              </a:lnSpc>
            </a:pPr>
          </a:p>
          <a:p>
            <a:pPr algn="ctr">
              <a:lnSpc>
                <a:spcPts val="4619"/>
              </a:lnSpc>
            </a:pPr>
            <a:r>
              <a:rPr lang="en-US" sz="3299">
                <a:solidFill>
                  <a:srgbClr val="000000"/>
                </a:solidFill>
                <a:latin typeface="Times New Roman"/>
                <a:ea typeface="Times New Roman"/>
                <a:cs typeface="Times New Roman"/>
                <a:sym typeface="Times New Roman"/>
              </a:rPr>
              <a:t>This project aimed to solve the problem of ineffective and inaccessible task management, especially for people with disabilities or busy schedules. We developed an app that allows users to add tasks using voice or text, with real-time sync to Firebase and display on a smart mirror. We faced challenges with integration and syncing but overcame them through self-learning, which improved our skills in Android, databases, and IoT.In the future, the system can be enhanced with user accounts, reminders, task categories, and smart features like AI suggestions and calendar integration. While the project achieved its goals, there is still room for improvement to make it more useful and personalized.</a:t>
            </a:r>
          </a:p>
          <a:p>
            <a:pPr algn="l">
              <a:lnSpc>
                <a:spcPts val="4900"/>
              </a:lnSpc>
            </a:pPr>
          </a:p>
          <a:p>
            <a:pPr algn="l">
              <a:lnSpc>
                <a:spcPts val="3920"/>
              </a:lnSpc>
            </a:pPr>
          </a:p>
          <a:p>
            <a:pPr algn="l">
              <a:lnSpc>
                <a:spcPts val="4900"/>
              </a:lnSpc>
            </a:pPr>
          </a:p>
          <a:p>
            <a:pPr algn="l">
              <a:lnSpc>
                <a:spcPts val="4900"/>
              </a:lnSpc>
            </a:pPr>
          </a:p>
          <a:p>
            <a:pPr algn="l">
              <a:lnSpc>
                <a:spcPts val="4900"/>
              </a:lnSpc>
            </a:pPr>
          </a:p>
          <a:p>
            <a:pPr algn="l">
              <a:lnSpc>
                <a:spcPts val="4900"/>
              </a:lnSpc>
            </a:pPr>
          </a:p>
          <a:p>
            <a:pPr algn="l">
              <a:lnSpc>
                <a:spcPts val="7295"/>
              </a:lnSpc>
            </a:pPr>
            <a:r>
              <a:rPr lang="en-US" b="true" sz="5211" i="true">
                <a:solidFill>
                  <a:srgbClr val="000000"/>
                </a:solidFill>
                <a:latin typeface="Times New Roman Bold Italics"/>
                <a:ea typeface="Times New Roman Bold Italics"/>
                <a:cs typeface="Times New Roman Bold Italics"/>
                <a:sym typeface="Times New Roman Bold Italics"/>
              </a:rPr>
              <a:t>    </a:t>
            </a:r>
          </a:p>
          <a:p>
            <a:pPr algn="l">
              <a:lnSpc>
                <a:spcPts val="7295"/>
              </a:lnSpc>
            </a:pPr>
          </a:p>
          <a:p>
            <a:pPr algn="l">
              <a:lnSpc>
                <a:spcPts val="7295"/>
              </a:lnSpc>
            </a:pPr>
          </a:p>
          <a:p>
            <a:pPr algn="l">
              <a:lnSpc>
                <a:spcPts val="7559"/>
              </a:lnSpc>
            </a:pPr>
          </a:p>
          <a:p>
            <a:pPr algn="l">
              <a:lnSpc>
                <a:spcPts val="11811"/>
              </a:lnSpc>
            </a:pP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24</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3836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5" id="5"/>
          <p:cNvGrpSpPr/>
          <p:nvPr/>
        </p:nvGrpSpPr>
        <p:grpSpPr>
          <a:xfrm rot="0">
            <a:off x="17213342" y="2701178"/>
            <a:ext cx="4758515" cy="47585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7" id="7"/>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grpSp>
        <p:nvGrpSpPr>
          <p:cNvPr name="Group 8" id="8"/>
          <p:cNvGrpSpPr/>
          <p:nvPr/>
        </p:nvGrpSpPr>
        <p:grpSpPr>
          <a:xfrm rot="0">
            <a:off x="16666443" y="656036"/>
            <a:ext cx="1241303" cy="575606"/>
            <a:chOff x="0" y="0"/>
            <a:chExt cx="326928" cy="151600"/>
          </a:xfrm>
        </p:grpSpPr>
        <p:sp>
          <p:nvSpPr>
            <p:cNvPr name="Freeform 9" id="9"/>
            <p:cNvSpPr/>
            <p:nvPr/>
          </p:nvSpPr>
          <p:spPr>
            <a:xfrm flipH="false" flipV="false" rot="0">
              <a:off x="0" y="0"/>
              <a:ext cx="326928" cy="151600"/>
            </a:xfrm>
            <a:custGeom>
              <a:avLst/>
              <a:gdLst/>
              <a:ahLst/>
              <a:cxnLst/>
              <a:rect r="r" b="b" t="t" l="l"/>
              <a:pathLst>
                <a:path h="151600" w="326928">
                  <a:moveTo>
                    <a:pt x="75800" y="0"/>
                  </a:moveTo>
                  <a:lnTo>
                    <a:pt x="251128" y="0"/>
                  </a:lnTo>
                  <a:cubicBezTo>
                    <a:pt x="292991" y="0"/>
                    <a:pt x="326928" y="33937"/>
                    <a:pt x="326928" y="75800"/>
                  </a:cubicBezTo>
                  <a:lnTo>
                    <a:pt x="326928" y="75800"/>
                  </a:lnTo>
                  <a:cubicBezTo>
                    <a:pt x="326928" y="117663"/>
                    <a:pt x="292991" y="151600"/>
                    <a:pt x="251128" y="151600"/>
                  </a:cubicBezTo>
                  <a:lnTo>
                    <a:pt x="75800" y="151600"/>
                  </a:lnTo>
                  <a:cubicBezTo>
                    <a:pt x="33937" y="151600"/>
                    <a:pt x="0" y="117663"/>
                    <a:pt x="0" y="75800"/>
                  </a:cubicBezTo>
                  <a:lnTo>
                    <a:pt x="0" y="75800"/>
                  </a:lnTo>
                  <a:cubicBezTo>
                    <a:pt x="0" y="33937"/>
                    <a:pt x="33937" y="0"/>
                    <a:pt x="75800" y="0"/>
                  </a:cubicBezTo>
                  <a:close/>
                </a:path>
              </a:pathLst>
            </a:custGeom>
            <a:solidFill>
              <a:srgbClr val="875A7A"/>
            </a:solidFill>
          </p:spPr>
        </p:sp>
        <p:sp>
          <p:nvSpPr>
            <p:cNvPr name="TextBox 10" id="10"/>
            <p:cNvSpPr txBox="true"/>
            <p:nvPr/>
          </p:nvSpPr>
          <p:spPr>
            <a:xfrm>
              <a:off x="0" y="-85725"/>
              <a:ext cx="326928" cy="237325"/>
            </a:xfrm>
            <a:prstGeom prst="rect">
              <a:avLst/>
            </a:prstGeom>
          </p:spPr>
          <p:txBody>
            <a:bodyPr anchor="ctr" rtlCol="false" tIns="50800" lIns="50800" bIns="50800" rIns="50800"/>
            <a:lstStyle/>
            <a:p>
              <a:pPr algn="ctr">
                <a:lnSpc>
                  <a:spcPts val="2479"/>
                </a:lnSpc>
              </a:pPr>
            </a:p>
          </p:txBody>
        </p:sp>
      </p:grpSp>
      <p:sp>
        <p:nvSpPr>
          <p:cNvPr name="Freeform 11" id="11"/>
          <p:cNvSpPr/>
          <p:nvPr/>
        </p:nvSpPr>
        <p:spPr>
          <a:xfrm flipH="false" flipV="false" rot="0">
            <a:off x="16942528" y="793769"/>
            <a:ext cx="633545" cy="300142"/>
          </a:xfrm>
          <a:custGeom>
            <a:avLst/>
            <a:gdLst/>
            <a:ahLst/>
            <a:cxnLst/>
            <a:rect r="r" b="b" t="t" l="l"/>
            <a:pathLst>
              <a:path h="300142" w="633545">
                <a:moveTo>
                  <a:pt x="0" y="0"/>
                </a:moveTo>
                <a:lnTo>
                  <a:pt x="633544" y="0"/>
                </a:lnTo>
                <a:lnTo>
                  <a:pt x="633544"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262080" y="960560"/>
            <a:ext cx="18025920" cy="17052498"/>
          </a:xfrm>
          <a:prstGeom prst="rect">
            <a:avLst/>
          </a:prstGeom>
        </p:spPr>
        <p:txBody>
          <a:bodyPr anchor="t" rtlCol="false" tIns="0" lIns="0" bIns="0" rIns="0">
            <a:spAutoFit/>
          </a:bodyPr>
          <a:lstStyle/>
          <a:p>
            <a:pPr algn="l">
              <a:lnSpc>
                <a:spcPts val="4685"/>
              </a:lnSpc>
            </a:pPr>
            <a:r>
              <a:rPr lang="en-US" b="true" sz="3346" i="true">
                <a:solidFill>
                  <a:srgbClr val="000000"/>
                </a:solidFill>
                <a:latin typeface="Times New Roman Bold Italics"/>
                <a:ea typeface="Times New Roman Bold Italics"/>
                <a:cs typeface="Times New Roman Bold Italics"/>
                <a:sym typeface="Times New Roman Bold Italics"/>
              </a:rPr>
              <a:t>                                                                   REFERENCES</a:t>
            </a:r>
          </a:p>
          <a:p>
            <a:pPr algn="l">
              <a:lnSpc>
                <a:spcPts val="4900"/>
              </a:lnSpc>
            </a:pPr>
          </a:p>
          <a:p>
            <a:pPr algn="l" marL="431801" indent="-215900" lvl="1">
              <a:lnSpc>
                <a:spcPts val="2800"/>
              </a:lnSpc>
              <a:buFont typeface="Arial"/>
              <a:buChar char="•"/>
            </a:pPr>
            <a:r>
              <a:rPr lang="en-US" sz="2000">
                <a:solidFill>
                  <a:srgbClr val="000000"/>
                </a:solidFill>
                <a:latin typeface="Times New Roman"/>
                <a:ea typeface="Times New Roman"/>
                <a:cs typeface="Times New Roman"/>
                <a:sym typeface="Times New Roman"/>
              </a:rPr>
              <a:t>[1] GEEKSFORGEEKS, "WHAT IS WATERFALL METHODOLOGY?" *GEEKSFORGEEKS*. AVAILABLE: </a:t>
            </a:r>
            <a:r>
              <a:rPr lang="en-US" sz="2000" u="sng">
                <a:solidFill>
                  <a:srgbClr val="000000"/>
                </a:solidFill>
                <a:latin typeface="Times New Roman"/>
                <a:ea typeface="Times New Roman"/>
                <a:cs typeface="Times New Roman"/>
                <a:sym typeface="Times New Roman"/>
                <a:hlinkClick r:id="rId4" tooltip="https://www.geeksforgeeks.org/waterfall-model/"/>
              </a:rPr>
              <a:t>HTTPS://WWW.GEEKSFORGEEKS.ORG/WATERFALL-MODEL/</a:t>
            </a:r>
            <a:r>
              <a:rPr lang="en-US" sz="2000">
                <a:solidFill>
                  <a:srgbClr val="000000"/>
                </a:solidFill>
                <a:latin typeface="Times New Roman"/>
                <a:ea typeface="Times New Roman"/>
                <a:cs typeface="Times New Roman"/>
                <a:sym typeface="Times New Roman"/>
              </a:rPr>
              <a:t> . [ACCESSED: NOV. 22, 2024]. </a:t>
            </a:r>
          </a:p>
          <a:p>
            <a:pPr algn="l" marL="431801" indent="-215900" lvl="1">
              <a:lnSpc>
                <a:spcPts val="2800"/>
              </a:lnSpc>
              <a:buFont typeface="Arial"/>
              <a:buChar char="•"/>
            </a:pPr>
            <a:r>
              <a:rPr lang="en-US" sz="2000">
                <a:solidFill>
                  <a:srgbClr val="000000"/>
                </a:solidFill>
                <a:latin typeface="Times New Roman"/>
                <a:ea typeface="Times New Roman"/>
                <a:cs typeface="Times New Roman"/>
                <a:sym typeface="Times New Roman"/>
              </a:rPr>
              <a:t>[2] J. W. SATZINGER, R. B. JACKSON, AND S. D. BURD, SYSTEMS ANALYSIS AND DESIGN IN A CHANGING WORLD, 7TH ED., CENGAGE LEARNING, 2016</a:t>
            </a:r>
          </a:p>
          <a:p>
            <a:pPr algn="l" marL="431801" indent="-215900" lvl="1">
              <a:lnSpc>
                <a:spcPts val="2800"/>
              </a:lnSpc>
              <a:buFont typeface="Arial"/>
              <a:buChar char="•"/>
            </a:pPr>
            <a:r>
              <a:rPr lang="en-US" sz="2000">
                <a:solidFill>
                  <a:srgbClr val="000000"/>
                </a:solidFill>
                <a:latin typeface="Times New Roman"/>
                <a:ea typeface="Times New Roman"/>
                <a:cs typeface="Times New Roman"/>
                <a:sym typeface="Times New Roman"/>
              </a:rPr>
              <a:t>[3] WORLD HEALTH ORGANIZATION, "DISABILITY AND HEALTH," 29 NOV 2021. [ONLINE]. AVAILABLE: </a:t>
            </a:r>
            <a:r>
              <a:rPr lang="en-US" sz="2000" u="sng">
                <a:solidFill>
                  <a:srgbClr val="000000"/>
                </a:solidFill>
                <a:latin typeface="Times New Roman"/>
                <a:ea typeface="Times New Roman"/>
                <a:cs typeface="Times New Roman"/>
                <a:sym typeface="Times New Roman"/>
                <a:hlinkClick r:id="rId5" tooltip="https://www.who.int/ar/news-room/fact-sheets/detail/disability-and-health"/>
              </a:rPr>
              <a:t>HTTPS://WWW.WHO.INT/AR/NEWS-ROOM/FACT-SHEETS/DETAIL/DISABILITY-AND-HEALTH</a:t>
            </a:r>
            <a:r>
              <a:rPr lang="en-US" sz="2000">
                <a:solidFill>
                  <a:srgbClr val="000000"/>
                </a:solidFill>
                <a:latin typeface="Times New Roman"/>
                <a:ea typeface="Times New Roman"/>
                <a:cs typeface="Times New Roman"/>
                <a:sym typeface="Times New Roman"/>
              </a:rPr>
              <a:t>. [ACCESSED: 02-DEC-2024].</a:t>
            </a:r>
          </a:p>
          <a:p>
            <a:pPr algn="l" marL="431801" indent="-215900" lvl="1">
              <a:lnSpc>
                <a:spcPts val="2800"/>
              </a:lnSpc>
              <a:buFont typeface="Arial"/>
              <a:buChar char="•"/>
            </a:pPr>
            <a:r>
              <a:rPr lang="en-US" sz="2000">
                <a:solidFill>
                  <a:srgbClr val="000000"/>
                </a:solidFill>
                <a:latin typeface="Times New Roman"/>
                <a:ea typeface="Times New Roman"/>
                <a:cs typeface="Times New Roman"/>
                <a:sym typeface="Times New Roman"/>
              </a:rPr>
              <a:t>[4] AUTHORITY FOR PEOPLE WITH DISABILITIES, "STATISTICS," AUTHORITY FOR PEOPLE WITH DISABILITIES, 2024. [ONLINE]. AVAILABLE: </a:t>
            </a:r>
            <a:r>
              <a:rPr lang="en-US" sz="2000" u="sng">
                <a:solidFill>
                  <a:srgbClr val="000000"/>
                </a:solidFill>
                <a:latin typeface="Times New Roman"/>
                <a:ea typeface="Times New Roman"/>
                <a:cs typeface="Times New Roman"/>
                <a:sym typeface="Times New Roman"/>
                <a:hlinkClick r:id="rId6" tooltip="https://apd.gov.sa/en/statistics"/>
              </a:rPr>
              <a:t>HTTPS://APD.GOV.SA/EN/STATISTICS</a:t>
            </a:r>
            <a:r>
              <a:rPr lang="en-US" sz="2000">
                <a:solidFill>
                  <a:srgbClr val="000000"/>
                </a:solidFill>
                <a:latin typeface="Times New Roman"/>
                <a:ea typeface="Times New Roman"/>
                <a:cs typeface="Times New Roman"/>
                <a:sym typeface="Times New Roman"/>
              </a:rPr>
              <a:t>.</a:t>
            </a:r>
          </a:p>
          <a:p>
            <a:pPr algn="l" marL="431801" indent="-215900" lvl="1">
              <a:lnSpc>
                <a:spcPts val="2800"/>
              </a:lnSpc>
              <a:buFont typeface="Arial"/>
              <a:buChar char="•"/>
            </a:pPr>
            <a:r>
              <a:rPr lang="en-US" sz="2000">
                <a:solidFill>
                  <a:srgbClr val="000000"/>
                </a:solidFill>
                <a:latin typeface="Times New Roman"/>
                <a:ea typeface="Times New Roman"/>
                <a:cs typeface="Times New Roman"/>
                <a:sym typeface="Times New Roman"/>
              </a:rPr>
              <a:t> [ACCESSED: DEC. 9, 2024].</a:t>
            </a:r>
          </a:p>
          <a:p>
            <a:pPr algn="l" marL="431801" indent="-215900" lvl="1">
              <a:lnSpc>
                <a:spcPts val="2800"/>
              </a:lnSpc>
              <a:buFont typeface="Arial"/>
              <a:buChar char="•"/>
            </a:pPr>
            <a:r>
              <a:rPr lang="en-US" sz="2000">
                <a:solidFill>
                  <a:srgbClr val="000000"/>
                </a:solidFill>
                <a:latin typeface="Times New Roman"/>
                <a:ea typeface="Times New Roman"/>
                <a:cs typeface="Times New Roman"/>
                <a:sym typeface="Times New Roman"/>
              </a:rPr>
              <a:t>[5] S. P. ABINAYA, M. AANANDALAKSHMI, AND P. AMY JOANNA, "MOTION ACTIVATED SMART MIRROR – WITH REAL-TIME ALERTS AND NOTIFICATIONS," IRO JOURNAL ON SUSTAINABLE WIRELESS SYSTEMS, VOL. 6, NO. 2, PP. 148–162, 2024, DOI: 10.36548/JSWS.2024.2.006.</a:t>
            </a:r>
          </a:p>
          <a:p>
            <a:pPr algn="l" marL="431801" indent="-215900" lvl="1">
              <a:lnSpc>
                <a:spcPts val="2800"/>
              </a:lnSpc>
              <a:buFont typeface="Arial"/>
              <a:buChar char="•"/>
            </a:pPr>
            <a:r>
              <a:rPr lang="en-US" sz="2000">
                <a:solidFill>
                  <a:srgbClr val="000000"/>
                </a:solidFill>
                <a:latin typeface="Times New Roman"/>
                <a:ea typeface="Times New Roman"/>
                <a:cs typeface="Times New Roman"/>
                <a:sym typeface="Times New Roman"/>
              </a:rPr>
              <a:t> [6] S. A. DESAI, J. P. KAHAR, P. D. MISTRY, A. S. MODAK, AND A. BIWALKAR, "A NOVEL IMPLEMENTATION OF AN INTERACTIVE SMART MIRROR," PROC. 6TH INT. CONF. COMMUN. ELECTRON. SYST. (ICCES), VOL. 15, NO. 2, PP. 100–115, 2021, DOI: 10.1109/ICCES51350.2021.9489060.</a:t>
            </a:r>
          </a:p>
          <a:p>
            <a:pPr algn="l" marL="431801" indent="-215900" lvl="1">
              <a:lnSpc>
                <a:spcPts val="2800"/>
              </a:lnSpc>
              <a:buFont typeface="Arial"/>
              <a:buChar char="•"/>
            </a:pPr>
            <a:r>
              <a:rPr lang="en-US" sz="2000">
                <a:solidFill>
                  <a:srgbClr val="000000"/>
                </a:solidFill>
                <a:latin typeface="Times New Roman"/>
                <a:ea typeface="Times New Roman"/>
                <a:cs typeface="Times New Roman"/>
                <a:sym typeface="Times New Roman"/>
              </a:rPr>
              <a:t> [7] M. M. YUSRI, S. KASIM, R. HASSAN, Z. ABDULLAH, H. RUSLAI, K. JAHIDIN, AND M. S. ARSHAD, "SMART MIRROR FOR SMART LIFE," 2017 INTERNATIONAL CONFERENCE ON INTERNET OF THINGS AND APPLICATIONS (IOTA), PP. 1–6, 2017, DOI: 10.1109/IOTA.2017.8075339</a:t>
            </a:r>
          </a:p>
          <a:p>
            <a:pPr algn="l" marL="431801" indent="-215900" lvl="1">
              <a:lnSpc>
                <a:spcPts val="2800"/>
              </a:lnSpc>
              <a:buFont typeface="Arial"/>
              <a:buChar char="•"/>
            </a:pPr>
            <a:r>
              <a:rPr lang="en-US" sz="2000">
                <a:solidFill>
                  <a:srgbClr val="000000"/>
                </a:solidFill>
                <a:latin typeface="Times New Roman"/>
                <a:ea typeface="Times New Roman"/>
                <a:cs typeface="Times New Roman"/>
                <a:sym typeface="Times New Roman"/>
              </a:rPr>
              <a:t>[8] P. MATHIVANAN, S. A, A. G, AND S. G, "SMART MIRRORS WITH AI FOR HOME AUTOMATION," AI AND AUTOMATION JOURNAL, VOL. 10, NO. 5, PP. 67–78, 2023.</a:t>
            </a:r>
          </a:p>
          <a:p>
            <a:pPr algn="l" marL="431801" indent="-215900" lvl="1">
              <a:lnSpc>
                <a:spcPts val="2800"/>
              </a:lnSpc>
              <a:buFont typeface="Arial"/>
              <a:buChar char="•"/>
            </a:pPr>
            <a:r>
              <a:rPr lang="en-US" sz="2000">
                <a:solidFill>
                  <a:srgbClr val="000000"/>
                </a:solidFill>
                <a:latin typeface="Times New Roman"/>
                <a:ea typeface="Times New Roman"/>
                <a:cs typeface="Times New Roman"/>
                <a:sym typeface="Times New Roman"/>
              </a:rPr>
              <a:t> [9] A. F. S. BORGES AND C. H. MORIMOTO, "VIRTUAL MAKEUP SYSTEMS USING AUGMENTED REALITY," JOURNAL OF DIGITAL AESTHETICS, VOL. 5, NO. 1, PP. 120–130, 2019, DOI: 10.1109/SVR.2019.00022.</a:t>
            </a:r>
          </a:p>
          <a:p>
            <a:pPr algn="l">
              <a:lnSpc>
                <a:spcPts val="4900"/>
              </a:lnSpc>
            </a:pPr>
          </a:p>
          <a:p>
            <a:pPr algn="l">
              <a:lnSpc>
                <a:spcPts val="3920"/>
              </a:lnSpc>
            </a:pPr>
          </a:p>
          <a:p>
            <a:pPr algn="l">
              <a:lnSpc>
                <a:spcPts val="4900"/>
              </a:lnSpc>
            </a:pPr>
          </a:p>
          <a:p>
            <a:pPr algn="l">
              <a:lnSpc>
                <a:spcPts val="4900"/>
              </a:lnSpc>
            </a:pPr>
          </a:p>
          <a:p>
            <a:pPr algn="l">
              <a:lnSpc>
                <a:spcPts val="4900"/>
              </a:lnSpc>
            </a:pPr>
          </a:p>
          <a:p>
            <a:pPr algn="l">
              <a:lnSpc>
                <a:spcPts val="4900"/>
              </a:lnSpc>
            </a:pPr>
          </a:p>
          <a:p>
            <a:pPr algn="l">
              <a:lnSpc>
                <a:spcPts val="7295"/>
              </a:lnSpc>
            </a:pPr>
            <a:r>
              <a:rPr lang="en-US" b="true" sz="5211" i="true">
                <a:solidFill>
                  <a:srgbClr val="000000"/>
                </a:solidFill>
                <a:latin typeface="Times New Roman Bold Italics"/>
                <a:ea typeface="Times New Roman Bold Italics"/>
                <a:cs typeface="Times New Roman Bold Italics"/>
                <a:sym typeface="Times New Roman Bold Italics"/>
              </a:rPr>
              <a:t>    </a:t>
            </a:r>
          </a:p>
          <a:p>
            <a:pPr algn="l">
              <a:lnSpc>
                <a:spcPts val="7295"/>
              </a:lnSpc>
            </a:pPr>
          </a:p>
          <a:p>
            <a:pPr algn="l">
              <a:lnSpc>
                <a:spcPts val="7295"/>
              </a:lnSpc>
            </a:pPr>
          </a:p>
          <a:p>
            <a:pPr algn="l">
              <a:lnSpc>
                <a:spcPts val="7559"/>
              </a:lnSpc>
            </a:pPr>
          </a:p>
          <a:p>
            <a:pPr algn="l">
              <a:lnSpc>
                <a:spcPts val="11811"/>
              </a:lnSpc>
            </a:pP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25</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02759" y="6802807"/>
            <a:ext cx="5402508" cy="54025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name="TextBox 4" id="4"/>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sp>
        <p:nvSpPr>
          <p:cNvPr name="AutoShape 5" id="5"/>
          <p:cNvSpPr/>
          <p:nvPr/>
        </p:nvSpPr>
        <p:spPr>
          <a:xfrm>
            <a:off x="1074658" y="8563446"/>
            <a:ext cx="16138684" cy="0"/>
          </a:xfrm>
          <a:prstGeom prst="line">
            <a:avLst/>
          </a:prstGeom>
          <a:ln cap="flat" w="38100">
            <a:solidFill>
              <a:srgbClr val="875A7A"/>
            </a:solidFill>
            <a:prstDash val="solid"/>
            <a:headEnd type="none" len="sm" w="sm"/>
            <a:tailEnd type="none" len="sm" w="sm"/>
          </a:ln>
        </p:spPr>
      </p:sp>
      <p:grpSp>
        <p:nvGrpSpPr>
          <p:cNvPr name="Group 6" id="6"/>
          <p:cNvGrpSpPr/>
          <p:nvPr/>
        </p:nvGrpSpPr>
        <p:grpSpPr>
          <a:xfrm rot="0">
            <a:off x="10785978" y="1231643"/>
            <a:ext cx="5489941" cy="548994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C1C1"/>
            </a:solidFill>
          </p:spPr>
        </p:sp>
        <p:sp>
          <p:nvSpPr>
            <p:cNvPr name="TextBox 8" id="8"/>
            <p:cNvSpPr txBox="true"/>
            <p:nvPr/>
          </p:nvSpPr>
          <p:spPr>
            <a:xfrm>
              <a:off x="76200" y="-9525"/>
              <a:ext cx="660400" cy="746125"/>
            </a:xfrm>
            <a:prstGeom prst="rect">
              <a:avLst/>
            </a:prstGeom>
          </p:spPr>
          <p:txBody>
            <a:bodyPr anchor="ctr" rtlCol="false" tIns="50800" lIns="50800" bIns="50800" rIns="50800"/>
            <a:lstStyle/>
            <a:p>
              <a:pPr algn="ctr">
                <a:lnSpc>
                  <a:spcPts val="2479"/>
                </a:lnSpc>
              </a:pPr>
            </a:p>
          </p:txBody>
        </p:sp>
      </p:grpSp>
      <p:sp>
        <p:nvSpPr>
          <p:cNvPr name="Freeform 9" id="9"/>
          <p:cNvSpPr/>
          <p:nvPr/>
        </p:nvSpPr>
        <p:spPr>
          <a:xfrm flipH="false" flipV="false" rot="0">
            <a:off x="16275918" y="793769"/>
            <a:ext cx="633545" cy="300142"/>
          </a:xfrm>
          <a:custGeom>
            <a:avLst/>
            <a:gdLst/>
            <a:ahLst/>
            <a:cxnLst/>
            <a:rect r="r" b="b" t="t" l="l"/>
            <a:pathLst>
              <a:path h="300142" w="633545">
                <a:moveTo>
                  <a:pt x="0" y="0"/>
                </a:moveTo>
                <a:lnTo>
                  <a:pt x="633545" y="0"/>
                </a:lnTo>
                <a:lnTo>
                  <a:pt x="633545" y="300141"/>
                </a:lnTo>
                <a:lnTo>
                  <a:pt x="0" y="30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563969" y="2588771"/>
            <a:ext cx="14166687" cy="2965470"/>
          </a:xfrm>
          <a:prstGeom prst="rect">
            <a:avLst/>
          </a:prstGeom>
        </p:spPr>
        <p:txBody>
          <a:bodyPr anchor="t" rtlCol="false" tIns="0" lIns="0" bIns="0" rIns="0">
            <a:spAutoFit/>
          </a:bodyPr>
          <a:lstStyle/>
          <a:p>
            <a:pPr algn="l">
              <a:lnSpc>
                <a:spcPts val="21873"/>
              </a:lnSpc>
            </a:pPr>
            <a:r>
              <a:rPr lang="en-US" sz="15624" b="true">
                <a:solidFill>
                  <a:srgbClr val="875A7A"/>
                </a:solidFill>
                <a:latin typeface="Times New Roman Bold"/>
                <a:ea typeface="Times New Roman Bold"/>
                <a:cs typeface="Times New Roman Bold"/>
                <a:sym typeface="Times New Roman Bold"/>
              </a:rPr>
              <a:t>THANK YOU</a:t>
            </a:r>
          </a:p>
        </p:txBody>
      </p:sp>
      <p:grpSp>
        <p:nvGrpSpPr>
          <p:cNvPr name="Group 11" id="11"/>
          <p:cNvGrpSpPr/>
          <p:nvPr/>
        </p:nvGrpSpPr>
        <p:grpSpPr>
          <a:xfrm rot="0">
            <a:off x="0" y="0"/>
            <a:ext cx="563969" cy="10287000"/>
            <a:chOff x="0" y="0"/>
            <a:chExt cx="148535" cy="2709333"/>
          </a:xfrm>
        </p:grpSpPr>
        <p:sp>
          <p:nvSpPr>
            <p:cNvPr name="Freeform 12" id="12"/>
            <p:cNvSpPr/>
            <p:nvPr/>
          </p:nvSpPr>
          <p:spPr>
            <a:xfrm flipH="false" flipV="false" rot="0">
              <a:off x="0" y="0"/>
              <a:ext cx="148535" cy="2709333"/>
            </a:xfrm>
            <a:custGeom>
              <a:avLst/>
              <a:gdLst/>
              <a:ahLst/>
              <a:cxnLst/>
              <a:rect r="r" b="b" t="t" l="l"/>
              <a:pathLst>
                <a:path h="2709333" w="148535">
                  <a:moveTo>
                    <a:pt x="0" y="0"/>
                  </a:moveTo>
                  <a:lnTo>
                    <a:pt x="148535" y="0"/>
                  </a:lnTo>
                  <a:lnTo>
                    <a:pt x="148535" y="2709333"/>
                  </a:lnTo>
                  <a:lnTo>
                    <a:pt x="0" y="2709333"/>
                  </a:lnTo>
                  <a:close/>
                </a:path>
              </a:pathLst>
            </a:custGeom>
            <a:solidFill>
              <a:srgbClr val="875A7A"/>
            </a:solidFill>
          </p:spPr>
        </p:sp>
        <p:sp>
          <p:nvSpPr>
            <p:cNvPr name="TextBox 13" id="13"/>
            <p:cNvSpPr txBox="true"/>
            <p:nvPr/>
          </p:nvSpPr>
          <p:spPr>
            <a:xfrm>
              <a:off x="0" y="-85725"/>
              <a:ext cx="148535" cy="2795058"/>
            </a:xfrm>
            <a:prstGeom prst="rect">
              <a:avLst/>
            </a:prstGeom>
          </p:spPr>
          <p:txBody>
            <a:bodyPr anchor="ctr" rtlCol="false" tIns="50800" lIns="50800" bIns="50800" rIns="50800"/>
            <a:lstStyle/>
            <a:p>
              <a:pPr algn="ctr">
                <a:lnSpc>
                  <a:spcPts val="2479"/>
                </a:lnSpc>
              </a:pPr>
            </a:p>
          </p:txBody>
        </p:sp>
      </p:gr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875A7A"/>
                </a:solidFill>
                <a:latin typeface="Canva Sans"/>
                <a:ea typeface="Canva Sans"/>
                <a:cs typeface="Canva Sans"/>
                <a:sym typeface="Canva Sans"/>
              </a:rP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DAGoAOyS-X0</dc:identifier>
  <dcterms:modified xsi:type="dcterms:W3CDTF">2011-08-01T06:04:30Z</dcterms:modified>
  <cp:revision>1</cp:revision>
  <dc:title>GP2</dc:title>
</cp:coreProperties>
</file>